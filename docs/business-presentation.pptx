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0" r:id="rId1"/>
  </p:sldMasterIdLst>
  <p:notesMasterIdLst>
    <p:notesMasterId r:id="rId17"/>
  </p:notesMasterIdLst>
  <p:sldIdLst>
    <p:sldId id="256" r:id="rId2"/>
    <p:sldId id="269" r:id="rId3"/>
    <p:sldId id="257" r:id="rId4"/>
    <p:sldId id="258" r:id="rId5"/>
    <p:sldId id="259" r:id="rId6"/>
    <p:sldId id="277" r:id="rId7"/>
    <p:sldId id="261" r:id="rId8"/>
    <p:sldId id="266" r:id="rId9"/>
    <p:sldId id="263" r:id="rId10"/>
    <p:sldId id="270" r:id="rId11"/>
    <p:sldId id="274" r:id="rId12"/>
    <p:sldId id="275" r:id="rId13"/>
    <p:sldId id="276" r:id="rId14"/>
    <p:sldId id="278" r:id="rId15"/>
    <p:sldId id="279"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Calibri Light" panose="020F0302020204030204" pitchFamily="34" charset="0"/>
      <p:regular r:id="rId22"/>
      <p: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4660"/>
  </p:normalViewPr>
  <p:slideViewPr>
    <p:cSldViewPr snapToGrid="0">
      <p:cViewPr varScale="1">
        <p:scale>
          <a:sx n="96" d="100"/>
          <a:sy n="96" d="100"/>
        </p:scale>
        <p:origin x="9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151D0-0F61-4DF9-A2A8-E5BF26380BF8}" type="datetimeFigureOut">
              <a:rPr lang="en-GB" smtClean="0"/>
              <a:t>16/02/2026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1ECB22-9CB4-4B35-B53E-3C1C1E747BA2}" type="slidenum">
              <a:rPr lang="en-GB" smtClean="0"/>
              <a:t>‹#›</a:t>
            </a:fld>
            <a:endParaRPr lang="en-GB"/>
          </a:p>
        </p:txBody>
      </p:sp>
    </p:spTree>
    <p:extLst>
      <p:ext uri="{BB962C8B-B14F-4D97-AF65-F5344CB8AC3E}">
        <p14:creationId xmlns:p14="http://schemas.microsoft.com/office/powerpoint/2010/main" val="3387402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Greenory ist ein modernes Unternehmen, das sich auf die Entwicklung und den Vertrieb von ästhetischen und plastikfreien Alltagsprodukten spezialisiert hat. Unser Ziel ist es, nachhaltigen Konsum durch hochwertige Produkte wie Bambuszahnbürsten und Edelstahlflaschen fest in den urbanen Lebensstil zu integrieren.</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2</a:t>
            </a:fld>
            <a:endParaRPr lang="en-GB"/>
          </a:p>
        </p:txBody>
      </p:sp>
    </p:spTree>
    <p:extLst>
      <p:ext uri="{BB962C8B-B14F-4D97-AF65-F5344CB8AC3E}">
        <p14:creationId xmlns:p14="http://schemas.microsoft.com/office/powerpoint/2010/main" val="3843680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Wir haben uns bewusst für ein B2C-Geschäftsmodell entschieden, um eine direkte Markenkommunikation ohne Zwischenhändler zu ermöglichen. Dies erlaubt uns, unmittelbares Kundenfeedback für die Produktoptimierung zu nutzen und durch gezieltes CRM-Management eine loyale Community aufzubauen.</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3</a:t>
            </a:fld>
            <a:endParaRPr lang="en-GB"/>
          </a:p>
        </p:txBody>
      </p:sp>
    </p:spTree>
    <p:extLst>
      <p:ext uri="{BB962C8B-B14F-4D97-AF65-F5344CB8AC3E}">
        <p14:creationId xmlns:p14="http://schemas.microsoft.com/office/powerpoint/2010/main" val="1781967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Unsere Kernzielgruppe umfasst junge, umweltbewusste Stadtbewohner im Alter von 25 bis 40 Jahren. Diese Personen legen großen Wert auf Nachhaltigkeit, Design und Transparenz bei ihren Kaufentscheidungen und sind überwiegend auf digitalen Kanälen aktiv.</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4</a:t>
            </a:fld>
            <a:endParaRPr lang="en-GB"/>
          </a:p>
        </p:txBody>
      </p:sp>
    </p:spTree>
    <p:extLst>
      <p:ext uri="{BB962C8B-B14F-4D97-AF65-F5344CB8AC3E}">
        <p14:creationId xmlns:p14="http://schemas.microsoft.com/office/powerpoint/2010/main" val="1874817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In unserer SWOT-Analyse identifizieren wir unser minimalistisches Design als wesentliche Stärke. Eine Herausforderung stellt die starke Konkurrenz im E-Commerce dar. Wir nutzen jedoch die Chance der steigenden Nachfrage nach plastikfreien Produkten, um potenzielle Risiken wie steigende Rohstoffpreise durch hohe Markenloyalität auszugleichen.</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5</a:t>
            </a:fld>
            <a:endParaRPr lang="en-GB"/>
          </a:p>
        </p:txBody>
      </p:sp>
    </p:spTree>
    <p:extLst>
      <p:ext uri="{BB962C8B-B14F-4D97-AF65-F5344CB8AC3E}">
        <p14:creationId xmlns:p14="http://schemas.microsoft.com/office/powerpoint/2010/main" val="1648190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Das erste zentrale Bedürfnis unserer Kunden ist der Umweltschutz. Der konkrete Kundennutzen liegt in der aktiven Reduzierung des ökologischen Fußabdrucks durch den Kauf von biologisch abbaubaren Produkten. Die Voraussetzung hierfür ist ein einfacher Zugang über unseren spezialisierten Online-Shop.</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7</a:t>
            </a:fld>
            <a:endParaRPr lang="en-GB"/>
          </a:p>
        </p:txBody>
      </p:sp>
    </p:spTree>
    <p:extLst>
      <p:ext uri="{BB962C8B-B14F-4D97-AF65-F5344CB8AC3E}">
        <p14:creationId xmlns:p14="http://schemas.microsoft.com/office/powerpoint/2010/main" val="3082563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Neben der Ökologie ist die Gesundheit ein entscheidendes Bedürfnis. Kunden suchen nach schadstofffreien Alternativen zu herkömmlichem Plastik. Unsere Edelstahlprodukte bieten den Nutzen der Schadstofffreiheit, was ein wesentliches Kaufmotiv für gesundheitsbewusste Konsumenten darstellt.</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8</a:t>
            </a:fld>
            <a:endParaRPr lang="en-GB"/>
          </a:p>
        </p:txBody>
      </p:sp>
    </p:spTree>
    <p:extLst>
      <p:ext uri="{BB962C8B-B14F-4D97-AF65-F5344CB8AC3E}">
        <p14:creationId xmlns:p14="http://schemas.microsoft.com/office/powerpoint/2010/main" val="2338573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Zu den Basismerkmalen gehören eine sichere Website und die Schadstofffreiheit der Waren, da deren Fehlen zu sofortiger Unzufriedenheit führt. Als Leistungsmerkmale bieten wir eine intuitive Menüführung im Shop sowie eine schnelle Lieferung innerhalb von 24 Stunden an, um die Kundenzufriedenheit linear zu steigern.</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11</a:t>
            </a:fld>
            <a:endParaRPr lang="en-GB"/>
          </a:p>
        </p:txBody>
      </p:sp>
    </p:spTree>
    <p:extLst>
      <p:ext uri="{BB962C8B-B14F-4D97-AF65-F5344CB8AC3E}">
        <p14:creationId xmlns:p14="http://schemas.microsoft.com/office/powerpoint/2010/main" val="2771163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Um einen 'Wow-Effekt' zu erzeugen, setzen wir auf Begeisterungsmerkmale wie personalisierte Namensgravuren und handgeschriebene Dankeskarten. Diese emotionalen Extras unterscheiden Greenory vom Wettbewerb und fördern eine langfristige Bindung zwischen dem Kunden und der Marke.</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12</a:t>
            </a:fld>
            <a:endParaRPr lang="en-GB"/>
          </a:p>
        </p:txBody>
      </p:sp>
    </p:spTree>
    <p:extLst>
      <p:ext uri="{BB962C8B-B14F-4D97-AF65-F5344CB8AC3E}">
        <p14:creationId xmlns:p14="http://schemas.microsoft.com/office/powerpoint/2010/main" val="3429309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smtClean="0"/>
              <a:t>Rückweisungsmerkmale wie unzuverlässige Lieferungen, mangelnde Transparenz oder unfreundliches Personal führen zum sofortigen Abbruch der Kundenbeziehung. Wir vermeiden diese K.o.-Kriterien durch ein strenges Qualitätsmanagement und kontinuierliche Schulung unseres Serviceteams.</a:t>
            </a:r>
            <a:endParaRPr lang="en-GB" dirty="0"/>
          </a:p>
        </p:txBody>
      </p:sp>
      <p:sp>
        <p:nvSpPr>
          <p:cNvPr id="4" name="Slide Number Placeholder 3"/>
          <p:cNvSpPr>
            <a:spLocks noGrp="1"/>
          </p:cNvSpPr>
          <p:nvPr>
            <p:ph type="sldNum" sz="quarter" idx="10"/>
          </p:nvPr>
        </p:nvSpPr>
        <p:spPr/>
        <p:txBody>
          <a:bodyPr/>
          <a:lstStyle/>
          <a:p>
            <a:fld id="{B81ECB22-9CB4-4B35-B53E-3C1C1E747BA2}" type="slidenum">
              <a:rPr lang="en-GB" smtClean="0"/>
              <a:t>13</a:t>
            </a:fld>
            <a:endParaRPr lang="en-GB"/>
          </a:p>
        </p:txBody>
      </p:sp>
    </p:spTree>
    <p:extLst>
      <p:ext uri="{BB962C8B-B14F-4D97-AF65-F5344CB8AC3E}">
        <p14:creationId xmlns:p14="http://schemas.microsoft.com/office/powerpoint/2010/main" val="409148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52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48372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794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304849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5623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0171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187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2/16/2026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8323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3385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9248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82303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2/16/2026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84117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1.xml"/><Relationship Id="rId5" Type="http://schemas.openxmlformats.org/officeDocument/2006/relationships/image" Target="../media/image1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vecteezy.com/photo/57674009-minimalist-workspace-with-laptop-reusable-water-bottle-and-green-plants-eco-friendly-home-office-setup-stainless-steel-bottle-wooden-desk-mockup-cozy-home-office-sett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6,000 Green Urban Sustainable Development Stock Photos - Free &amp;  Royalty-Free Stock Photos from Dreams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8" y="1701165"/>
            <a:ext cx="4480560" cy="44805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0853" y="260983"/>
            <a:ext cx="2560320" cy="2560320"/>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p:cNvSpPr txBox="1">
            <a:spLocks/>
          </p:cNvSpPr>
          <p:nvPr/>
        </p:nvSpPr>
        <p:spPr>
          <a:xfrm>
            <a:off x="4124324" y="2785109"/>
            <a:ext cx="7722195" cy="64770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GB" sz="2800" dirty="0" err="1" smtClean="0"/>
              <a:t>Greenory</a:t>
            </a:r>
            <a:r>
              <a:rPr lang="en-GB" sz="2800" dirty="0" smtClean="0"/>
              <a:t> – </a:t>
            </a:r>
            <a:r>
              <a:rPr lang="en-GB" sz="2800" dirty="0" err="1" smtClean="0"/>
              <a:t>Nachhaltiges</a:t>
            </a:r>
            <a:r>
              <a:rPr lang="en-GB" sz="2800" dirty="0" smtClean="0"/>
              <a:t> </a:t>
            </a:r>
            <a:r>
              <a:rPr lang="en-GB" sz="2800" dirty="0" err="1" smtClean="0"/>
              <a:t>urbanes</a:t>
            </a:r>
            <a:r>
              <a:rPr lang="en-GB" sz="2800" dirty="0" smtClean="0"/>
              <a:t> </a:t>
            </a:r>
            <a:r>
              <a:rPr lang="en-GB" sz="2800" dirty="0" err="1" smtClean="0"/>
              <a:t>Leben</a:t>
            </a:r>
            <a:endParaRPr lang="en-GB" sz="2800" dirty="0" smtClean="0"/>
          </a:p>
          <a:p>
            <a:endParaRPr lang="en-US" dirty="0" smtClean="0"/>
          </a:p>
          <a:p>
            <a:endParaRPr lang="en-US" dirty="0" smtClean="0"/>
          </a:p>
          <a:p>
            <a:endParaRPr lang="en-GB" dirty="0"/>
          </a:p>
        </p:txBody>
      </p:sp>
      <p:sp>
        <p:nvSpPr>
          <p:cNvPr id="8" name="Subtitle 2"/>
          <p:cNvSpPr txBox="1">
            <a:spLocks/>
          </p:cNvSpPr>
          <p:nvPr/>
        </p:nvSpPr>
        <p:spPr>
          <a:xfrm>
            <a:off x="4029074" y="3483290"/>
            <a:ext cx="7647227" cy="398148"/>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GB" dirty="0" err="1" smtClean="0"/>
              <a:t>Kundenservice</a:t>
            </a:r>
            <a:r>
              <a:rPr lang="en-GB" dirty="0" smtClean="0"/>
              <a:t> </a:t>
            </a:r>
            <a:r>
              <a:rPr lang="en-GB" dirty="0" err="1"/>
              <a:t>mit</a:t>
            </a:r>
            <a:r>
              <a:rPr lang="en-GB" dirty="0"/>
              <a:t> CRM – </a:t>
            </a:r>
            <a:r>
              <a:rPr lang="en-GB" dirty="0" err="1" smtClean="0"/>
              <a:t>Projektarbeit</a:t>
            </a:r>
            <a:endParaRPr lang="en-US" sz="2000" dirty="0" smtClean="0"/>
          </a:p>
          <a:p>
            <a:endParaRPr lang="en-US" dirty="0" smtClean="0"/>
          </a:p>
          <a:p>
            <a:endParaRPr lang="en-US" dirty="0" smtClean="0"/>
          </a:p>
          <a:p>
            <a:endParaRPr lang="en-GB" dirty="0"/>
          </a:p>
        </p:txBody>
      </p:sp>
    </p:spTree>
    <p:extLst>
      <p:ext uri="{BB962C8B-B14F-4D97-AF65-F5344CB8AC3E}">
        <p14:creationId xmlns:p14="http://schemas.microsoft.com/office/powerpoint/2010/main" val="9040140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sz="4400" b="1" dirty="0" err="1"/>
              <a:t>Unternehmensvorstellung</a:t>
            </a:r>
            <a:r>
              <a:rPr lang="en-GB" sz="4400" b="1" dirty="0"/>
              <a:t> &amp; </a:t>
            </a:r>
            <a:r>
              <a:rPr lang="en-GB" sz="4400" b="1" dirty="0" err="1"/>
              <a:t>Geschäftsmodell</a:t>
            </a:r>
            <a:endParaRPr lang="en-GB" sz="4400" dirty="0"/>
          </a:p>
        </p:txBody>
      </p:sp>
      <p:sp>
        <p:nvSpPr>
          <p:cNvPr id="3" name="Content Placeholder 2"/>
          <p:cNvSpPr>
            <a:spLocks noGrp="1"/>
          </p:cNvSpPr>
          <p:nvPr>
            <p:ph idx="1"/>
          </p:nvPr>
        </p:nvSpPr>
        <p:spPr>
          <a:xfrm>
            <a:off x="6467474" y="1845734"/>
            <a:ext cx="4688205" cy="4335992"/>
          </a:xfrm>
        </p:spPr>
        <p:txBody>
          <a:bodyPr>
            <a:normAutofit fontScale="92500" lnSpcReduction="10000"/>
          </a:bodyPr>
          <a:lstStyle/>
          <a:p>
            <a:pPr>
              <a:lnSpc>
                <a:spcPct val="110000"/>
              </a:lnSpc>
              <a:buFont typeface="Wingdings" panose="05000000000000000000" pitchFamily="2" charset="2"/>
              <a:buChar char="v"/>
            </a:pPr>
            <a:r>
              <a:rPr lang="en-US" sz="2400" b="1" dirty="0" err="1"/>
              <a:t>Titel</a:t>
            </a:r>
            <a:r>
              <a:rPr lang="en-US" sz="2400" b="1" dirty="0"/>
              <a:t>:</a:t>
            </a:r>
            <a:r>
              <a:rPr lang="en-US" sz="2400" dirty="0"/>
              <a:t> </a:t>
            </a:r>
            <a:endParaRPr lang="en-US" sz="2400" dirty="0" smtClean="0"/>
          </a:p>
          <a:p>
            <a:pPr lvl="1">
              <a:lnSpc>
                <a:spcPct val="110000"/>
              </a:lnSpc>
            </a:pPr>
            <a:r>
              <a:rPr lang="en-US" dirty="0" err="1" smtClean="0"/>
              <a:t>Greenory</a:t>
            </a:r>
            <a:r>
              <a:rPr lang="en-US" dirty="0" smtClean="0"/>
              <a:t> </a:t>
            </a:r>
            <a:r>
              <a:rPr lang="en-US" dirty="0"/>
              <a:t>– </a:t>
            </a:r>
            <a:r>
              <a:rPr lang="en-GB" dirty="0" err="1"/>
              <a:t>Nachhaltiges</a:t>
            </a:r>
            <a:r>
              <a:rPr lang="en-GB" dirty="0"/>
              <a:t> </a:t>
            </a:r>
            <a:r>
              <a:rPr lang="en-GB" dirty="0" err="1"/>
              <a:t>urbanes</a:t>
            </a:r>
            <a:r>
              <a:rPr lang="en-GB" dirty="0"/>
              <a:t> </a:t>
            </a:r>
            <a:r>
              <a:rPr lang="en-GB" dirty="0" err="1"/>
              <a:t>Leben</a:t>
            </a:r>
            <a:endParaRPr lang="en-US" dirty="0"/>
          </a:p>
          <a:p>
            <a:pPr>
              <a:lnSpc>
                <a:spcPct val="110000"/>
              </a:lnSpc>
              <a:buFont typeface="Wingdings" panose="05000000000000000000" pitchFamily="2" charset="2"/>
              <a:buChar char="v"/>
            </a:pPr>
            <a:r>
              <a:rPr lang="de-DE" sz="2400" b="1" dirty="0"/>
              <a:t>Über uns</a:t>
            </a:r>
            <a:r>
              <a:rPr lang="de-DE" sz="2400" b="1" dirty="0" smtClean="0"/>
              <a:t>:</a:t>
            </a:r>
          </a:p>
          <a:p>
            <a:pPr lvl="1">
              <a:lnSpc>
                <a:spcPct val="110000"/>
              </a:lnSpc>
            </a:pPr>
            <a:r>
              <a:rPr lang="de-DE" dirty="0"/>
              <a:t> Wir entwickeln plastikfreie, ästhetische Alltagsprodukte für ein nachhaltiges urbanes Leben</a:t>
            </a:r>
            <a:r>
              <a:rPr lang="de-DE" dirty="0" smtClean="0"/>
              <a:t>.</a:t>
            </a:r>
          </a:p>
          <a:p>
            <a:pPr>
              <a:lnSpc>
                <a:spcPct val="110000"/>
              </a:lnSpc>
              <a:buFont typeface="Wingdings" panose="05000000000000000000" pitchFamily="2" charset="2"/>
              <a:buChar char="v"/>
            </a:pPr>
            <a:r>
              <a:rPr lang="en-GB" sz="2400" b="1" dirty="0" err="1" smtClean="0"/>
              <a:t>Produktfokus</a:t>
            </a:r>
            <a:r>
              <a:rPr lang="en-GB" sz="2400" b="1" dirty="0"/>
              <a:t>:</a:t>
            </a:r>
            <a:r>
              <a:rPr lang="en-GB" sz="2400" dirty="0"/>
              <a:t> </a:t>
            </a:r>
            <a:endParaRPr lang="en-GB" sz="2400" dirty="0" smtClean="0"/>
          </a:p>
          <a:p>
            <a:pPr lvl="1">
              <a:lnSpc>
                <a:spcPct val="110000"/>
              </a:lnSpc>
            </a:pPr>
            <a:r>
              <a:rPr lang="en-GB" dirty="0" err="1" smtClean="0"/>
              <a:t>Bambuszahnbürsten</a:t>
            </a:r>
            <a:r>
              <a:rPr lang="en-GB" dirty="0"/>
              <a:t>, </a:t>
            </a:r>
            <a:r>
              <a:rPr lang="en-GB" dirty="0" err="1"/>
              <a:t>Edelstahlflaschen</a:t>
            </a:r>
            <a:r>
              <a:rPr lang="en-GB" dirty="0"/>
              <a:t>, </a:t>
            </a:r>
            <a:r>
              <a:rPr lang="en-GB" dirty="0" smtClean="0"/>
              <a:t>Zero-Waste-</a:t>
            </a:r>
            <a:r>
              <a:rPr lang="en-GB" dirty="0" err="1" smtClean="0"/>
              <a:t>Starterkits</a:t>
            </a:r>
            <a:endParaRPr lang="fa-IR" dirty="0" smtClean="0"/>
          </a:p>
          <a:p>
            <a:pPr>
              <a:lnSpc>
                <a:spcPct val="110000"/>
              </a:lnSpc>
              <a:buFont typeface="Wingdings" panose="05000000000000000000" pitchFamily="2" charset="2"/>
              <a:buChar char="v"/>
            </a:pPr>
            <a:r>
              <a:rPr lang="en-GB" sz="2400" b="1" dirty="0" err="1"/>
              <a:t>Geschäftsmodell</a:t>
            </a:r>
            <a:r>
              <a:rPr lang="en-GB" sz="2400" b="1" dirty="0"/>
              <a:t>:</a:t>
            </a:r>
            <a:r>
              <a:rPr lang="en-GB" sz="2400" dirty="0"/>
              <a:t> </a:t>
            </a:r>
            <a:endParaRPr lang="fa-IR" sz="2400" dirty="0" smtClean="0"/>
          </a:p>
          <a:p>
            <a:pPr lvl="1">
              <a:lnSpc>
                <a:spcPct val="110000"/>
              </a:lnSpc>
            </a:pPr>
            <a:r>
              <a:rPr lang="de-DE" dirty="0"/>
              <a:t>B2C – Direktvertrieb über eigenen Onlineshop</a:t>
            </a:r>
            <a:r>
              <a:rPr lang="en-GB" dirty="0" smtClean="0"/>
              <a:t>.</a:t>
            </a:r>
            <a:endParaRPr lang="en-GB" dirty="0"/>
          </a:p>
        </p:txBody>
      </p:sp>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A chic bathroom arrangement with bamboo toothbrushes in a wooden holder  soap a lotion jar and white towels conveying cleanliness and modern  aesthetics | Premium AI-gener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0229" y="4155095"/>
            <a:ext cx="3749040" cy="2102091"/>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Minimalist Workspace with Stainless Steel Water Bottle and Green Plants,  Sustainable Lifestyle, Dark Wooden Table 57674004 Stock Photo at Vecteez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0229" y="1924292"/>
            <a:ext cx="3749040" cy="2043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4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fade">
                                      <p:cBhvr>
                                        <p:cTn id="7" dur="500"/>
                                        <p:tgtEl>
                                          <p:spTgt spid="13316"/>
                                        </p:tgtEl>
                                      </p:cBhvr>
                                    </p:animEffect>
                                  </p:childTnLst>
                                </p:cTn>
                              </p:par>
                              <p:par>
                                <p:cTn id="8" presetID="10" presetClass="entr" presetSubtype="0" fill="hold" nodeType="withEffect">
                                  <p:stCondLst>
                                    <p:cond delay="0"/>
                                  </p:stCondLst>
                                  <p:childTnLst>
                                    <p:set>
                                      <p:cBhvr>
                                        <p:cTn id="9" dur="1" fill="hold">
                                          <p:stCondLst>
                                            <p:cond delay="0"/>
                                          </p:stCondLst>
                                        </p:cTn>
                                        <p:tgtEl>
                                          <p:spTgt spid="13314"/>
                                        </p:tgtEl>
                                        <p:attrNameLst>
                                          <p:attrName>style.visibility</p:attrName>
                                        </p:attrNameLst>
                                      </p:cBhvr>
                                      <p:to>
                                        <p:strVal val="visible"/>
                                      </p:to>
                                    </p:set>
                                    <p:animEffect transition="in" filter="fade">
                                      <p:cBhvr>
                                        <p:cTn id="10" dur="500"/>
                                        <p:tgtEl>
                                          <p:spTgt spid="133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sz="4000" b="1" dirty="0" err="1" smtClean="0"/>
              <a:t>Aufgabe</a:t>
            </a:r>
            <a:r>
              <a:rPr lang="en-GB" sz="4000" b="1" dirty="0" smtClean="0"/>
              <a:t> 1_Warum B2C?</a:t>
            </a:r>
            <a:endParaRPr lang="en-GB" sz="4000" b="1" dirty="0"/>
          </a:p>
        </p:txBody>
      </p:sp>
      <p:sp>
        <p:nvSpPr>
          <p:cNvPr id="3" name="Content Placeholder 2"/>
          <p:cNvSpPr>
            <a:spLocks noGrp="1"/>
          </p:cNvSpPr>
          <p:nvPr>
            <p:ph idx="1"/>
          </p:nvPr>
        </p:nvSpPr>
        <p:spPr>
          <a:xfrm>
            <a:off x="1097280" y="1845734"/>
            <a:ext cx="7084695" cy="4023360"/>
          </a:xfrm>
        </p:spPr>
        <p:txBody>
          <a:bodyPr>
            <a:normAutofit fontScale="92500" lnSpcReduction="20000"/>
          </a:bodyPr>
          <a:lstStyle/>
          <a:p>
            <a:pPr>
              <a:lnSpc>
                <a:spcPct val="150000"/>
              </a:lnSpc>
              <a:buFont typeface="Wingdings" panose="05000000000000000000" pitchFamily="2" charset="2"/>
              <a:buChar char="v"/>
            </a:pPr>
            <a:r>
              <a:rPr lang="de-DE" b="1" dirty="0"/>
              <a:t>Direkte </a:t>
            </a:r>
            <a:r>
              <a:rPr lang="de-DE" b="1" dirty="0" smtClean="0"/>
              <a:t>Markenkommunikation</a:t>
            </a:r>
          </a:p>
          <a:p>
            <a:pPr lvl="1">
              <a:lnSpc>
                <a:spcPct val="150000"/>
              </a:lnSpc>
              <a:buFont typeface="Wingdings" panose="05000000000000000000" pitchFamily="2" charset="2"/>
              <a:buChar char="Ø"/>
            </a:pPr>
            <a:r>
              <a:rPr lang="de-DE" dirty="0" smtClean="0"/>
              <a:t>Wir </a:t>
            </a:r>
            <a:r>
              <a:rPr lang="de-DE" dirty="0"/>
              <a:t>vermitteln unsere Vision direkt an den Endverbraucher.</a:t>
            </a:r>
          </a:p>
          <a:p>
            <a:pPr>
              <a:lnSpc>
                <a:spcPct val="150000"/>
              </a:lnSpc>
              <a:buFont typeface="Wingdings" panose="05000000000000000000" pitchFamily="2" charset="2"/>
              <a:buChar char="v"/>
            </a:pPr>
            <a:r>
              <a:rPr lang="de-DE" b="1" dirty="0"/>
              <a:t>Schnelles </a:t>
            </a:r>
            <a:r>
              <a:rPr lang="de-DE" b="1" dirty="0" smtClean="0"/>
              <a:t>Kundenfeedback</a:t>
            </a:r>
          </a:p>
          <a:p>
            <a:pPr lvl="1">
              <a:lnSpc>
                <a:spcPct val="150000"/>
              </a:lnSpc>
              <a:buFont typeface="Wingdings" panose="05000000000000000000" pitchFamily="2" charset="2"/>
              <a:buChar char="Ø"/>
            </a:pPr>
            <a:r>
              <a:rPr lang="de-DE" dirty="0" smtClean="0"/>
              <a:t> </a:t>
            </a:r>
            <a:r>
              <a:rPr lang="de-DE" dirty="0"/>
              <a:t>Unmittelbare Rückmeldungen helfen uns bei der Produktoptimierung.</a:t>
            </a:r>
          </a:p>
          <a:p>
            <a:pPr>
              <a:lnSpc>
                <a:spcPct val="150000"/>
              </a:lnSpc>
              <a:buFont typeface="Wingdings" panose="05000000000000000000" pitchFamily="2" charset="2"/>
              <a:buChar char="v"/>
            </a:pPr>
            <a:r>
              <a:rPr lang="de-DE" b="1" dirty="0" smtClean="0"/>
              <a:t>Marketing-Effizienz</a:t>
            </a:r>
          </a:p>
          <a:p>
            <a:pPr lvl="1">
              <a:lnSpc>
                <a:spcPct val="150000"/>
              </a:lnSpc>
              <a:buFont typeface="Wingdings" panose="05000000000000000000" pitchFamily="2" charset="2"/>
              <a:buChar char="Ø"/>
            </a:pPr>
            <a:r>
              <a:rPr lang="de-DE" dirty="0" smtClean="0"/>
              <a:t> </a:t>
            </a:r>
            <a:r>
              <a:rPr lang="de-DE" dirty="0"/>
              <a:t>Gezielte Ansprache über Social Media (Instagram/TikTok).</a:t>
            </a:r>
          </a:p>
          <a:p>
            <a:pPr>
              <a:lnSpc>
                <a:spcPct val="150000"/>
              </a:lnSpc>
              <a:buFont typeface="Wingdings" panose="05000000000000000000" pitchFamily="2" charset="2"/>
              <a:buChar char="v"/>
            </a:pPr>
            <a:r>
              <a:rPr lang="de-DE" b="1" dirty="0"/>
              <a:t>CRM &amp; </a:t>
            </a:r>
            <a:r>
              <a:rPr lang="de-DE" b="1" dirty="0" smtClean="0"/>
              <a:t>Community</a:t>
            </a:r>
          </a:p>
          <a:p>
            <a:pPr lvl="1">
              <a:lnSpc>
                <a:spcPct val="150000"/>
              </a:lnSpc>
              <a:buFont typeface="Wingdings" panose="05000000000000000000" pitchFamily="2" charset="2"/>
              <a:buChar char="Ø"/>
            </a:pPr>
            <a:r>
              <a:rPr lang="de-DE" dirty="0" smtClean="0"/>
              <a:t> </a:t>
            </a:r>
            <a:r>
              <a:rPr lang="de-DE" dirty="0"/>
              <a:t>Aufbau langfristiger Loyalität durch direkten Kontakt.</a:t>
            </a:r>
          </a:p>
          <a:p>
            <a:pPr>
              <a:lnSpc>
                <a:spcPct val="150000"/>
              </a:lnSpc>
            </a:pPr>
            <a:endParaRPr lang="en-GB" dirty="0"/>
          </a:p>
        </p:txBody>
      </p:sp>
      <p:pic>
        <p:nvPicPr>
          <p:cNvPr id="8"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2c - Kostenlose handel-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5281" y="2262187"/>
            <a:ext cx="3200399"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375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sz="4400" b="1" dirty="0" err="1" smtClean="0"/>
              <a:t>Aufgabe</a:t>
            </a:r>
            <a:r>
              <a:rPr lang="en-GB" sz="4400" b="1" dirty="0" smtClean="0"/>
              <a:t> 2_Zielgruppe &amp; </a:t>
            </a:r>
            <a:r>
              <a:rPr lang="en-GB" sz="4400" b="1" dirty="0" err="1" smtClean="0"/>
              <a:t>Auswahlmerkmale</a:t>
            </a:r>
            <a:endParaRPr lang="en-GB" sz="4400" dirty="0"/>
          </a:p>
        </p:txBody>
      </p:sp>
      <p:sp>
        <p:nvSpPr>
          <p:cNvPr id="5" name="Content Placeholder 4"/>
          <p:cNvSpPr>
            <a:spLocks noGrp="1"/>
          </p:cNvSpPr>
          <p:nvPr>
            <p:ph sz="half" idx="2"/>
          </p:nvPr>
        </p:nvSpPr>
        <p:spPr>
          <a:xfrm>
            <a:off x="6217920" y="1868594"/>
            <a:ext cx="4937760" cy="4511039"/>
          </a:xfrm>
        </p:spPr>
        <p:txBody>
          <a:bodyPr>
            <a:normAutofit fontScale="85000" lnSpcReduction="10000"/>
          </a:bodyPr>
          <a:lstStyle/>
          <a:p>
            <a:pPr>
              <a:lnSpc>
                <a:spcPct val="120000"/>
              </a:lnSpc>
              <a:buFont typeface="Wingdings" panose="05000000000000000000" pitchFamily="2" charset="2"/>
              <a:buChar char="v"/>
            </a:pPr>
            <a:r>
              <a:rPr lang="de-DE" b="1" dirty="0" smtClean="0"/>
              <a:t>Zielgruppe</a:t>
            </a:r>
            <a:r>
              <a:rPr lang="de-DE" dirty="0" smtClean="0"/>
              <a:t> </a:t>
            </a:r>
            <a:r>
              <a:rPr lang="de-DE" dirty="0"/>
              <a:t/>
            </a:r>
            <a:br>
              <a:rPr lang="de-DE" dirty="0"/>
            </a:br>
            <a:r>
              <a:rPr lang="de-DE" sz="1900" dirty="0" smtClean="0"/>
              <a:t>Junge</a:t>
            </a:r>
            <a:r>
              <a:rPr lang="de-DE" sz="1900" dirty="0"/>
              <a:t>, umweltbewusste Stadtbewohner (25–40 Jahre).</a:t>
            </a:r>
          </a:p>
          <a:p>
            <a:pPr>
              <a:lnSpc>
                <a:spcPct val="120000"/>
              </a:lnSpc>
              <a:buFont typeface="Wingdings" panose="05000000000000000000" pitchFamily="2" charset="2"/>
              <a:buChar char="v"/>
            </a:pPr>
            <a:r>
              <a:rPr lang="en-GB" b="1" dirty="0" err="1" smtClean="0"/>
              <a:t>Vier</a:t>
            </a:r>
            <a:r>
              <a:rPr lang="en-GB" b="1" dirty="0" smtClean="0"/>
              <a:t> </a:t>
            </a:r>
            <a:r>
              <a:rPr lang="en-GB" b="1" dirty="0" err="1" smtClean="0"/>
              <a:t>Auswahlmerkmale</a:t>
            </a:r>
            <a:endParaRPr lang="en-GB" b="1" dirty="0" smtClean="0"/>
          </a:p>
          <a:p>
            <a:pPr lvl="1">
              <a:lnSpc>
                <a:spcPct val="120000"/>
              </a:lnSpc>
              <a:buFont typeface="Wingdings" panose="05000000000000000000" pitchFamily="2" charset="2"/>
              <a:buChar char="Ø"/>
            </a:pPr>
            <a:r>
              <a:rPr lang="de-DE" b="1" dirty="0" smtClean="0"/>
              <a:t>Demografisch</a:t>
            </a:r>
            <a:endParaRPr lang="de-DE" dirty="0" smtClean="0"/>
          </a:p>
          <a:p>
            <a:pPr lvl="1">
              <a:lnSpc>
                <a:spcPct val="120000"/>
              </a:lnSpc>
            </a:pPr>
            <a:r>
              <a:rPr lang="de-DE" sz="1700" dirty="0" smtClean="0"/>
              <a:t>Berufstätige </a:t>
            </a:r>
            <a:r>
              <a:rPr lang="de-DE" sz="1700" dirty="0"/>
              <a:t>Singles und junge Familien mit mittlerem bis hohem Einkommen.</a:t>
            </a:r>
          </a:p>
          <a:p>
            <a:pPr lvl="1">
              <a:lnSpc>
                <a:spcPct val="120000"/>
              </a:lnSpc>
              <a:buFont typeface="Wingdings" panose="05000000000000000000" pitchFamily="2" charset="2"/>
              <a:buChar char="Ø"/>
            </a:pPr>
            <a:r>
              <a:rPr lang="de-DE" b="1" dirty="0" smtClean="0"/>
              <a:t>Psychographisch</a:t>
            </a:r>
            <a:r>
              <a:rPr lang="de-DE" dirty="0" smtClean="0"/>
              <a:t> </a:t>
            </a:r>
          </a:p>
          <a:p>
            <a:pPr lvl="1">
              <a:lnSpc>
                <a:spcPct val="120000"/>
              </a:lnSpc>
            </a:pPr>
            <a:r>
              <a:rPr lang="de-DE" sz="1700" dirty="0" smtClean="0"/>
              <a:t>Hohes </a:t>
            </a:r>
            <a:r>
              <a:rPr lang="de-DE" sz="1700" dirty="0"/>
              <a:t>Umweltbewusstsein und Fokus auf einen "Minimalistischen Lifestyle".</a:t>
            </a:r>
          </a:p>
          <a:p>
            <a:pPr lvl="1">
              <a:lnSpc>
                <a:spcPct val="120000"/>
              </a:lnSpc>
              <a:buFont typeface="Wingdings" panose="05000000000000000000" pitchFamily="2" charset="2"/>
              <a:buChar char="Ø"/>
            </a:pPr>
            <a:r>
              <a:rPr lang="de-DE" b="1" dirty="0" smtClean="0"/>
              <a:t>Verhaltensorientiert</a:t>
            </a:r>
            <a:r>
              <a:rPr lang="de-DE" dirty="0" smtClean="0"/>
              <a:t> </a:t>
            </a:r>
          </a:p>
          <a:p>
            <a:pPr lvl="1">
              <a:lnSpc>
                <a:spcPct val="120000"/>
              </a:lnSpc>
            </a:pPr>
            <a:r>
              <a:rPr lang="de-DE" sz="1700" dirty="0" smtClean="0"/>
              <a:t>Affinität </a:t>
            </a:r>
            <a:r>
              <a:rPr lang="de-DE" sz="1700" dirty="0"/>
              <a:t>zu Online-Shopping und nachhaltigen Marken.</a:t>
            </a:r>
          </a:p>
          <a:p>
            <a:pPr lvl="1">
              <a:lnSpc>
                <a:spcPct val="120000"/>
              </a:lnSpc>
              <a:buFont typeface="Wingdings" panose="05000000000000000000" pitchFamily="2" charset="2"/>
              <a:buChar char="Ø"/>
            </a:pPr>
            <a:r>
              <a:rPr lang="de-DE" b="1" dirty="0" smtClean="0"/>
              <a:t>Geografisch</a:t>
            </a:r>
          </a:p>
          <a:p>
            <a:pPr lvl="1">
              <a:lnSpc>
                <a:spcPct val="120000"/>
              </a:lnSpc>
            </a:pPr>
            <a:r>
              <a:rPr lang="de-DE" sz="1500" dirty="0" smtClean="0"/>
              <a:t> </a:t>
            </a:r>
            <a:r>
              <a:rPr lang="de-DE" sz="1500" dirty="0"/>
              <a:t>Bewohner von Großstädten und urbanen Räumen (Urbane Milieus).</a:t>
            </a:r>
          </a:p>
          <a:p>
            <a:pPr>
              <a:lnSpc>
                <a:spcPct val="120000"/>
              </a:lnSpc>
            </a:pPr>
            <a:endParaRPr lang="en-GB" b="1" dirty="0" smtClean="0"/>
          </a:p>
        </p:txBody>
      </p:sp>
      <p:sp>
        <p:nvSpPr>
          <p:cNvPr id="3" name="Content Placeholder 2"/>
          <p:cNvSpPr>
            <a:spLocks noGrp="1"/>
          </p:cNvSpPr>
          <p:nvPr>
            <p:ph sz="half" idx="1"/>
          </p:nvPr>
        </p:nvSpPr>
        <p:spPr/>
        <p:txBody>
          <a:bodyPr>
            <a:normAutofit fontScale="85000" lnSpcReduction="10000"/>
          </a:bodyPr>
          <a:lstStyle/>
          <a:p>
            <a:endParaRPr lang="en-GB"/>
          </a:p>
        </p:txBody>
      </p:sp>
      <p:pic>
        <p:nvPicPr>
          <p:cNvPr id="2050" name="Picture 2" descr="Eco-Friendly Consumers: 10 Eye-Opening Statistics &amp; How You Can Join the  Green Revolution - Marine Biodiversity Science 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8" y="2470786"/>
            <a:ext cx="4937760" cy="282001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06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fade">
                                      <p:cBhvr>
                                        <p:cTn id="31" dur="500"/>
                                        <p:tgtEl>
                                          <p:spTgt spid="5">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fade">
                                      <p:cBhvr>
                                        <p:cTn id="34" dur="500"/>
                                        <p:tgtEl>
                                          <p:spTgt spid="5">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fade">
                                      <p:cBhvr>
                                        <p:cTn id="3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b="1" dirty="0" err="1" smtClean="0"/>
              <a:t>Aufgabe</a:t>
            </a:r>
            <a:r>
              <a:rPr lang="en-GB" b="1" dirty="0" smtClean="0"/>
              <a:t> 3_SWOT-Analyse </a:t>
            </a:r>
            <a:r>
              <a:rPr lang="en-GB" b="1" dirty="0"/>
              <a:t>&amp; </a:t>
            </a:r>
            <a:r>
              <a:rPr lang="en-GB" b="1" dirty="0" err="1"/>
              <a:t>Strategien</a:t>
            </a:r>
            <a:endParaRPr lang="en-GB" dirty="0"/>
          </a:p>
        </p:txBody>
      </p:sp>
      <p:graphicFrame>
        <p:nvGraphicFramePr>
          <p:cNvPr id="24" name="Content Placeholder 23"/>
          <p:cNvGraphicFramePr>
            <a:graphicFrameLocks noGrp="1"/>
          </p:cNvGraphicFramePr>
          <p:nvPr>
            <p:ph idx="1"/>
            <p:extLst>
              <p:ext uri="{D42A27DB-BD31-4B8C-83A1-F6EECF244321}">
                <p14:modId xmlns:p14="http://schemas.microsoft.com/office/powerpoint/2010/main" val="312654632"/>
              </p:ext>
            </p:extLst>
          </p:nvPr>
        </p:nvGraphicFramePr>
        <p:xfrm>
          <a:off x="1106805" y="1946751"/>
          <a:ext cx="10058400" cy="1722120"/>
        </p:xfrm>
        <a:graphic>
          <a:graphicData uri="http://schemas.openxmlformats.org/drawingml/2006/table">
            <a:tbl>
              <a:tblPr firstRow="1" bandRow="1">
                <a:tableStyleId>{5C22544A-7EE6-4342-B048-85BDC9FD1C3A}</a:tableStyleId>
              </a:tblPr>
              <a:tblGrid>
                <a:gridCol w="5029200"/>
                <a:gridCol w="5029200"/>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kern="1200" dirty="0" err="1" smtClean="0">
                          <a:solidFill>
                            <a:schemeClr val="lt1"/>
                          </a:solidFill>
                          <a:latin typeface="+mn-lt"/>
                          <a:ea typeface="+mn-ea"/>
                          <a:cs typeface="+mn-cs"/>
                        </a:rPr>
                        <a:t>Stärken</a:t>
                      </a:r>
                      <a:endParaRPr lang="en-GB" sz="2000" b="1" kern="1200" dirty="0" smtClean="0">
                        <a:solidFill>
                          <a:schemeClr val="lt1"/>
                        </a:solidFill>
                        <a:latin typeface="+mn-lt"/>
                        <a:ea typeface="+mn-ea"/>
                        <a:cs typeface="+mn-cs"/>
                      </a:endParaRPr>
                    </a:p>
                  </a:txBody>
                  <a:tcPr/>
                </a:tc>
                <a:tc>
                  <a:txBody>
                    <a:bodyPr/>
                    <a:lstStyle/>
                    <a:p>
                      <a:r>
                        <a:rPr lang="en-GB" sz="2000" b="1" kern="1200" dirty="0" err="1" smtClean="0">
                          <a:solidFill>
                            <a:schemeClr val="lt1"/>
                          </a:solidFill>
                          <a:latin typeface="+mn-lt"/>
                          <a:ea typeface="+mn-ea"/>
                          <a:cs typeface="+mn-cs"/>
                        </a:rPr>
                        <a:t>Schwächen</a:t>
                      </a:r>
                      <a:endParaRPr lang="en-GB" sz="2000" dirty="0"/>
                    </a:p>
                  </a:txBody>
                  <a:tcPr anchor="ctr"/>
                </a:tc>
              </a:tr>
              <a:tr h="370840">
                <a:tc>
                  <a:txBody>
                    <a:bodyPr/>
                    <a:lstStyle/>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Modernes Design. </a:t>
                      </a:r>
                    </a:p>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100% nachhaltig. </a:t>
                      </a:r>
                    </a:p>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Schnelle Entscheidungswege.</a:t>
                      </a:r>
                      <a:endParaRPr lang="en-GB" dirty="0"/>
                    </a:p>
                  </a:txBody>
                  <a:tcPr/>
                </a:tc>
                <a:tc>
                  <a:txBody>
                    <a:bodyPr/>
                    <a:lstStyle/>
                    <a:p>
                      <a:pPr marL="342900" indent="-342900">
                        <a:lnSpc>
                          <a:spcPct val="150000"/>
                        </a:lnSpc>
                        <a:buAutoNum type="arabicPeriod"/>
                      </a:pPr>
                      <a:r>
                        <a:rPr lang="de-DE" sz="1800" b="0" kern="1200" dirty="0" smtClean="0">
                          <a:solidFill>
                            <a:schemeClr val="dk1"/>
                          </a:solidFill>
                          <a:latin typeface="+mn-lt"/>
                          <a:ea typeface="+mn-ea"/>
                          <a:cs typeface="+mn-cs"/>
                        </a:rPr>
                        <a:t>Geringe Bekanntheit. </a:t>
                      </a:r>
                    </a:p>
                    <a:p>
                      <a:pPr marL="342900" indent="-342900">
                        <a:lnSpc>
                          <a:spcPct val="150000"/>
                        </a:lnSpc>
                        <a:buAutoNum type="arabicPeriod"/>
                      </a:pPr>
                      <a:r>
                        <a:rPr lang="de-DE" sz="1800" b="0" kern="1200" dirty="0" smtClean="0">
                          <a:solidFill>
                            <a:schemeClr val="dk1"/>
                          </a:solidFill>
                          <a:latin typeface="+mn-lt"/>
                          <a:ea typeface="+mn-ea"/>
                          <a:cs typeface="+mn-cs"/>
                        </a:rPr>
                        <a:t>Begrenztes Budget. </a:t>
                      </a:r>
                    </a:p>
                    <a:p>
                      <a:pPr marL="342900" indent="-342900">
                        <a:lnSpc>
                          <a:spcPct val="150000"/>
                        </a:lnSpc>
                        <a:buAutoNum type="arabicPeriod"/>
                      </a:pPr>
                      <a:r>
                        <a:rPr lang="de-DE" sz="1800" b="0" kern="1200" dirty="0" smtClean="0">
                          <a:solidFill>
                            <a:schemeClr val="dk1"/>
                          </a:solidFill>
                          <a:latin typeface="+mn-lt"/>
                          <a:ea typeface="+mn-ea"/>
                          <a:cs typeface="+mn-cs"/>
                        </a:rPr>
                        <a:t>Wenige Lieferanten.</a:t>
                      </a:r>
                      <a:endParaRPr lang="en-GB" dirty="0"/>
                    </a:p>
                  </a:txBody>
                  <a:tcPr/>
                </a:tc>
              </a:tr>
            </a:tbl>
          </a:graphicData>
        </a:graphic>
      </p:graphicFrame>
      <p:graphicFrame>
        <p:nvGraphicFramePr>
          <p:cNvPr id="25" name="Content Placeholder 23"/>
          <p:cNvGraphicFramePr>
            <a:graphicFrameLocks/>
          </p:cNvGraphicFramePr>
          <p:nvPr>
            <p:extLst>
              <p:ext uri="{D42A27DB-BD31-4B8C-83A1-F6EECF244321}">
                <p14:modId xmlns:p14="http://schemas.microsoft.com/office/powerpoint/2010/main" val="1290185136"/>
              </p:ext>
            </p:extLst>
          </p:nvPr>
        </p:nvGraphicFramePr>
        <p:xfrm>
          <a:off x="1106805" y="3835717"/>
          <a:ext cx="10058400" cy="1722120"/>
        </p:xfrm>
        <a:graphic>
          <a:graphicData uri="http://schemas.openxmlformats.org/drawingml/2006/table">
            <a:tbl>
              <a:tblPr firstRow="1" bandRow="1">
                <a:tableStyleId>{5C22544A-7EE6-4342-B048-85BDC9FD1C3A}</a:tableStyleId>
              </a:tblPr>
              <a:tblGrid>
                <a:gridCol w="5029200"/>
                <a:gridCol w="5029200"/>
              </a:tblGrid>
              <a:tr h="0">
                <a:tc>
                  <a:txBody>
                    <a:bodyPr/>
                    <a:lstStyle/>
                    <a:p>
                      <a:r>
                        <a:rPr lang="en-GB" sz="2000" b="1" kern="1200" dirty="0" err="1" smtClean="0">
                          <a:solidFill>
                            <a:schemeClr val="lt1"/>
                          </a:solidFill>
                          <a:latin typeface="+mn-lt"/>
                          <a:ea typeface="+mn-ea"/>
                          <a:cs typeface="+mn-cs"/>
                        </a:rPr>
                        <a:t>Maßnahmen</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zur</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Stärkung</a:t>
                      </a:r>
                      <a:endParaRPr lang="en-GB" sz="2000" dirty="0"/>
                    </a:p>
                  </a:txBody>
                  <a:tcPr/>
                </a:tc>
                <a:tc>
                  <a:txBody>
                    <a:bodyPr/>
                    <a:lstStyle/>
                    <a:p>
                      <a:r>
                        <a:rPr lang="en-GB" sz="2000" b="1" kern="1200" dirty="0" err="1" smtClean="0">
                          <a:solidFill>
                            <a:schemeClr val="lt1"/>
                          </a:solidFill>
                          <a:latin typeface="+mn-lt"/>
                          <a:ea typeface="+mn-ea"/>
                          <a:cs typeface="+mn-cs"/>
                        </a:rPr>
                        <a:t>Maßnahmen</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zur</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Verbesserung</a:t>
                      </a:r>
                      <a:endParaRPr lang="en-GB" sz="2000" dirty="0"/>
                    </a:p>
                  </a:txBody>
                  <a:tcPr/>
                </a:tc>
              </a:tr>
              <a:tr h="370840">
                <a:tc>
                  <a:txBody>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de-DE" sz="1800" dirty="0" smtClean="0"/>
                        <a:t>Design als USP in Kampagnen hervorheben </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en-GB" sz="1800" dirty="0" err="1" smtClean="0"/>
                        <a:t>Zertifikate</a:t>
                      </a:r>
                      <a:r>
                        <a:rPr lang="en-GB" sz="1800" dirty="0" smtClean="0"/>
                        <a:t> &amp; </a:t>
                      </a:r>
                      <a:r>
                        <a:rPr lang="en-GB" sz="1800" dirty="0" err="1" smtClean="0"/>
                        <a:t>Transparenz</a:t>
                      </a:r>
                      <a:r>
                        <a:rPr lang="en-GB" sz="1800" dirty="0" smtClean="0"/>
                        <a:t> </a:t>
                      </a:r>
                      <a:r>
                        <a:rPr lang="en-GB" sz="1800" dirty="0" err="1" smtClean="0"/>
                        <a:t>kommunizieren</a:t>
                      </a:r>
                      <a:endParaRPr lang="en-GB" sz="1800" dirty="0" smtClean="0"/>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en-GB" sz="1800" dirty="0" smtClean="0"/>
                        <a:t> Agile </a:t>
                      </a:r>
                      <a:r>
                        <a:rPr lang="en-GB" sz="1800" dirty="0" err="1" smtClean="0"/>
                        <a:t>Produktentwicklung</a:t>
                      </a:r>
                      <a:r>
                        <a:rPr lang="en-GB" sz="1800" dirty="0" smtClean="0"/>
                        <a:t> </a:t>
                      </a:r>
                      <a:r>
                        <a:rPr lang="en-GB" sz="1800" dirty="0" err="1" smtClean="0"/>
                        <a:t>beibehalten</a:t>
                      </a:r>
                      <a:endParaRPr lang="en-GB" sz="1800" dirty="0"/>
                    </a:p>
                  </a:txBody>
                  <a:tcPr/>
                </a:tc>
                <a:tc>
                  <a:txBody>
                    <a:bodyPr/>
                    <a:lstStyle/>
                    <a:p>
                      <a:pPr marL="342900" indent="-342900">
                        <a:lnSpc>
                          <a:spcPct val="150000"/>
                        </a:lnSpc>
                        <a:buAutoNum type="arabicPeriod"/>
                      </a:pPr>
                      <a:r>
                        <a:rPr lang="en-GB" sz="1800" dirty="0" smtClean="0"/>
                        <a:t>Micro-Influencer-</a:t>
                      </a:r>
                      <a:r>
                        <a:rPr lang="en-GB" sz="1800" dirty="0" err="1" smtClean="0"/>
                        <a:t>Kampagnen</a:t>
                      </a:r>
                      <a:r>
                        <a:rPr lang="en-GB" sz="1800" dirty="0" smtClean="0"/>
                        <a:t> </a:t>
                      </a:r>
                    </a:p>
                    <a:p>
                      <a:pPr marL="342900" indent="-342900">
                        <a:lnSpc>
                          <a:spcPct val="150000"/>
                        </a:lnSpc>
                        <a:buAutoNum type="arabicPeriod"/>
                      </a:pPr>
                      <a:r>
                        <a:rPr lang="en-GB" sz="1800" dirty="0" err="1" smtClean="0"/>
                        <a:t>Fokus</a:t>
                      </a:r>
                      <a:r>
                        <a:rPr lang="en-GB" sz="1800" dirty="0" smtClean="0"/>
                        <a:t> auf </a:t>
                      </a:r>
                      <a:r>
                        <a:rPr lang="en-GB" sz="1800" dirty="0" err="1" smtClean="0"/>
                        <a:t>organisches</a:t>
                      </a:r>
                      <a:r>
                        <a:rPr lang="en-GB" sz="1800" dirty="0" smtClean="0"/>
                        <a:t> </a:t>
                      </a:r>
                      <a:r>
                        <a:rPr lang="en-GB" sz="1800" dirty="0" err="1" smtClean="0"/>
                        <a:t>Wachstum</a:t>
                      </a:r>
                      <a:r>
                        <a:rPr lang="en-GB" sz="1800" dirty="0" smtClean="0"/>
                        <a:t> </a:t>
                      </a:r>
                    </a:p>
                    <a:p>
                      <a:pPr marL="342900" indent="-342900">
                        <a:lnSpc>
                          <a:spcPct val="150000"/>
                        </a:lnSpc>
                        <a:buAutoNum type="arabicPeriod"/>
                      </a:pPr>
                      <a:r>
                        <a:rPr lang="en-GB" sz="1800" dirty="0" err="1" smtClean="0"/>
                        <a:t>Zweit</a:t>
                      </a:r>
                      <a:r>
                        <a:rPr lang="en-GB" sz="1800" dirty="0" smtClean="0"/>
                        <a:t>- und </a:t>
                      </a:r>
                      <a:r>
                        <a:rPr lang="en-GB" sz="1800" dirty="0" err="1" smtClean="0"/>
                        <a:t>Drittlieferanten</a:t>
                      </a:r>
                      <a:r>
                        <a:rPr lang="en-GB" sz="1800" dirty="0" smtClean="0"/>
                        <a:t> </a:t>
                      </a:r>
                      <a:r>
                        <a:rPr lang="en-GB" sz="1800" dirty="0" err="1" smtClean="0"/>
                        <a:t>aufbauen</a:t>
                      </a:r>
                      <a:endParaRPr lang="en-GB" sz="1800" dirty="0"/>
                    </a:p>
                  </a:txBody>
                  <a:tcPr/>
                </a:tc>
              </a:tr>
            </a:tbl>
          </a:graphicData>
        </a:graphic>
      </p:graphicFrame>
      <p:pic>
        <p:nvPicPr>
          <p:cNvPr id="7"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Stärke - Kostenlose sport-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901" y="2414587"/>
            <a:ext cx="1097279"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descr="Die schwäche - Kostenlose sonstiges-Ic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5801" y="2414587"/>
            <a:ext cx="1097279"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Lade kostenlose Maßnahmen Icons im PNG- und SVG-Format herun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24440" y="4497070"/>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Lade kostenlose Maßnahmen Icons im PNG- und SVG-Format herun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9580" y="4862830"/>
            <a:ext cx="457200" cy="45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84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11272"/>
                                        </p:tgtEl>
                                        <p:attrNameLst>
                                          <p:attrName>style.visibility</p:attrName>
                                        </p:attrNameLst>
                                      </p:cBhvr>
                                      <p:to>
                                        <p:strVal val="visible"/>
                                      </p:to>
                                    </p:set>
                                    <p:animEffect transition="in" filter="fade">
                                      <p:cBhvr>
                                        <p:cTn id="10" dur="500"/>
                                        <p:tgtEl>
                                          <p:spTgt spid="11272"/>
                                        </p:tgtEl>
                                      </p:cBhvr>
                                    </p:animEffect>
                                  </p:childTnLst>
                                </p:cTn>
                              </p:par>
                              <p:par>
                                <p:cTn id="11" presetID="10" presetClass="entr" presetSubtype="0" fill="hold" nodeType="withEffect">
                                  <p:stCondLst>
                                    <p:cond delay="0"/>
                                  </p:stCondLst>
                                  <p:childTnLst>
                                    <p:set>
                                      <p:cBhvr>
                                        <p:cTn id="12" dur="1" fill="hold">
                                          <p:stCondLst>
                                            <p:cond delay="0"/>
                                          </p:stCondLst>
                                        </p:cTn>
                                        <p:tgtEl>
                                          <p:spTgt spid="11276"/>
                                        </p:tgtEl>
                                        <p:attrNameLst>
                                          <p:attrName>style.visibility</p:attrName>
                                        </p:attrNameLst>
                                      </p:cBhvr>
                                      <p:to>
                                        <p:strVal val="visible"/>
                                      </p:to>
                                    </p:set>
                                    <p:animEffect transition="in" filter="fade">
                                      <p:cBhvr>
                                        <p:cTn id="13" dur="500"/>
                                        <p:tgtEl>
                                          <p:spTgt spid="11276"/>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b="1" dirty="0" smtClean="0"/>
              <a:t>SWOT-Analyse </a:t>
            </a:r>
            <a:r>
              <a:rPr lang="en-GB" b="1" dirty="0"/>
              <a:t>&amp; </a:t>
            </a:r>
            <a:r>
              <a:rPr lang="en-GB" b="1" dirty="0" err="1"/>
              <a:t>Strategien</a:t>
            </a:r>
            <a:endParaRPr lang="en-GB" dirty="0"/>
          </a:p>
        </p:txBody>
      </p:sp>
      <p:graphicFrame>
        <p:nvGraphicFramePr>
          <p:cNvPr id="5" name="Content Placeholder 23"/>
          <p:cNvGraphicFramePr>
            <a:graphicFrameLocks/>
          </p:cNvGraphicFramePr>
          <p:nvPr>
            <p:extLst>
              <p:ext uri="{D42A27DB-BD31-4B8C-83A1-F6EECF244321}">
                <p14:modId xmlns:p14="http://schemas.microsoft.com/office/powerpoint/2010/main" val="1183086328"/>
              </p:ext>
            </p:extLst>
          </p:nvPr>
        </p:nvGraphicFramePr>
        <p:xfrm>
          <a:off x="1097280" y="2013267"/>
          <a:ext cx="10058400" cy="1722120"/>
        </p:xfrm>
        <a:graphic>
          <a:graphicData uri="http://schemas.openxmlformats.org/drawingml/2006/table">
            <a:tbl>
              <a:tblPr firstRow="1" bandRow="1">
                <a:tableStyleId>{5C22544A-7EE6-4342-B048-85BDC9FD1C3A}</a:tableStyleId>
              </a:tblPr>
              <a:tblGrid>
                <a:gridCol w="5029200"/>
                <a:gridCol w="5029200"/>
              </a:tblGrid>
              <a:tr h="370840">
                <a:tc>
                  <a:txBody>
                    <a:bodyPr/>
                    <a:lstStyle/>
                    <a:p>
                      <a:r>
                        <a:rPr lang="en-GB" sz="2000" b="1" kern="1200" dirty="0" err="1" smtClean="0">
                          <a:solidFill>
                            <a:schemeClr val="lt1"/>
                          </a:solidFill>
                          <a:latin typeface="+mn-lt"/>
                          <a:ea typeface="+mn-ea"/>
                          <a:cs typeface="+mn-cs"/>
                        </a:rPr>
                        <a:t>Chancen</a:t>
                      </a:r>
                      <a:endParaRPr lang="en-GB" sz="2000" dirty="0"/>
                    </a:p>
                  </a:txBody>
                  <a:tcPr/>
                </a:tc>
                <a:tc>
                  <a:txBody>
                    <a:bodyPr/>
                    <a:lstStyle/>
                    <a:p>
                      <a:r>
                        <a:rPr lang="en-GB" sz="2000" b="1" kern="1200" dirty="0" err="1" smtClean="0">
                          <a:solidFill>
                            <a:schemeClr val="lt1"/>
                          </a:solidFill>
                          <a:latin typeface="+mn-lt"/>
                          <a:ea typeface="+mn-ea"/>
                          <a:cs typeface="+mn-cs"/>
                        </a:rPr>
                        <a:t>Risiken</a:t>
                      </a:r>
                      <a:endParaRPr lang="en-GB" sz="2000" dirty="0"/>
                    </a:p>
                  </a:txBody>
                  <a:tcPr anchor="ctr"/>
                </a:tc>
              </a:tr>
              <a:tr h="370840">
                <a:tc>
                  <a:txBody>
                    <a:bodyPr/>
                    <a:lstStyle/>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Plastikverbote. </a:t>
                      </a:r>
                    </a:p>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Online-Shopping-Trend. </a:t>
                      </a:r>
                    </a:p>
                    <a:p>
                      <a:pPr marL="342900" indent="-342900" rtl="0">
                        <a:lnSpc>
                          <a:spcPct val="150000"/>
                        </a:lnSpc>
                        <a:buFont typeface="Arial" panose="020B0604020202020204" pitchFamily="34" charset="0"/>
                        <a:buAutoNum type="arabicPeriod"/>
                      </a:pPr>
                      <a:r>
                        <a:rPr lang="de-DE" sz="1800" b="0" kern="1200" dirty="0" smtClean="0">
                          <a:solidFill>
                            <a:schemeClr val="dk1"/>
                          </a:solidFill>
                          <a:latin typeface="+mn-lt"/>
                          <a:ea typeface="+mn-ea"/>
                          <a:cs typeface="+mn-cs"/>
                        </a:rPr>
                        <a:t>Kooperationsmöglichkeiten.</a:t>
                      </a:r>
                      <a:endParaRPr lang="en-GB" dirty="0"/>
                    </a:p>
                  </a:txBody>
                  <a:tcPr/>
                </a:tc>
                <a:tc>
                  <a:txBody>
                    <a:bodyPr/>
                    <a:lstStyle/>
                    <a:p>
                      <a:pPr marL="0" indent="0" rtl="0">
                        <a:lnSpc>
                          <a:spcPct val="150000"/>
                        </a:lnSpc>
                        <a:buFont typeface="Arial" panose="020B0604020202020204" pitchFamily="34" charset="0"/>
                        <a:buNone/>
                      </a:pPr>
                      <a:r>
                        <a:rPr lang="de-DE" sz="1800" b="0" kern="1200" dirty="0" smtClean="0">
                          <a:solidFill>
                            <a:schemeClr val="dk1"/>
                          </a:solidFill>
                          <a:latin typeface="+mn-lt"/>
                          <a:ea typeface="+mn-ea"/>
                          <a:cs typeface="+mn-cs"/>
                        </a:rPr>
                        <a:t>1. Preisdruck durch Discounter. </a:t>
                      </a:r>
                    </a:p>
                    <a:p>
                      <a:pPr marL="0" indent="0" rtl="0">
                        <a:lnSpc>
                          <a:spcPct val="150000"/>
                        </a:lnSpc>
                        <a:buFont typeface="Arial" panose="020B0604020202020204" pitchFamily="34" charset="0"/>
                        <a:buNone/>
                      </a:pPr>
                      <a:r>
                        <a:rPr lang="de-DE" sz="1800" b="0" kern="1200" dirty="0" smtClean="0">
                          <a:solidFill>
                            <a:schemeClr val="dk1"/>
                          </a:solidFill>
                          <a:latin typeface="+mn-lt"/>
                          <a:ea typeface="+mn-ea"/>
                          <a:cs typeface="+mn-cs"/>
                        </a:rPr>
                        <a:t>2. Rohstoffpreise. </a:t>
                      </a:r>
                    </a:p>
                    <a:p>
                      <a:pPr marL="0" indent="0" rtl="0">
                        <a:lnSpc>
                          <a:spcPct val="150000"/>
                        </a:lnSpc>
                        <a:buFont typeface="Arial" panose="020B0604020202020204" pitchFamily="34" charset="0"/>
                        <a:buNone/>
                      </a:pPr>
                      <a:r>
                        <a:rPr lang="de-DE" sz="1800" b="0" kern="1200" dirty="0" smtClean="0">
                          <a:solidFill>
                            <a:schemeClr val="dk1"/>
                          </a:solidFill>
                          <a:latin typeface="+mn-lt"/>
                          <a:ea typeface="+mn-ea"/>
                          <a:cs typeface="+mn-cs"/>
                        </a:rPr>
                        <a:t>3.</a:t>
                      </a:r>
                      <a:r>
                        <a:rPr lang="de-DE" sz="1800" b="0" kern="1200" baseline="0" dirty="0" smtClean="0">
                          <a:solidFill>
                            <a:schemeClr val="dk1"/>
                          </a:solidFill>
                          <a:latin typeface="+mn-lt"/>
                          <a:ea typeface="+mn-ea"/>
                          <a:cs typeface="+mn-cs"/>
                        </a:rPr>
                        <a:t> </a:t>
                      </a:r>
                      <a:r>
                        <a:rPr lang="de-DE" sz="1800" b="0" kern="1200" dirty="0" smtClean="0">
                          <a:solidFill>
                            <a:schemeClr val="dk1"/>
                          </a:solidFill>
                          <a:latin typeface="+mn-lt"/>
                          <a:ea typeface="+mn-ea"/>
                          <a:cs typeface="+mn-cs"/>
                        </a:rPr>
                        <a:t>Schnelle Designtrends.</a:t>
                      </a:r>
                      <a:endParaRPr lang="en-GB" sz="1800" kern="1200" dirty="0" smtClean="0">
                        <a:solidFill>
                          <a:schemeClr val="dk1"/>
                        </a:solidFill>
                        <a:latin typeface="+mn-lt"/>
                        <a:ea typeface="+mn-ea"/>
                        <a:cs typeface="+mn-cs"/>
                      </a:endParaRPr>
                    </a:p>
                  </a:txBody>
                  <a:tcPr/>
                </a:tc>
              </a:tr>
            </a:tbl>
          </a:graphicData>
        </a:graphic>
      </p:graphicFrame>
      <p:pic>
        <p:nvPicPr>
          <p:cNvPr id="7"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Chance - Kostenlose geschäft-Ic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1" y="2595562"/>
            <a:ext cx="1097279"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7420" name="Picture 12" descr="Risiko Tachometer. Risiko Spur Symbol. hoch Risiko Meter 50703004 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8178" y="2641282"/>
            <a:ext cx="1143786" cy="10058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Content Placeholder 23"/>
          <p:cNvGraphicFramePr>
            <a:graphicFrameLocks/>
          </p:cNvGraphicFramePr>
          <p:nvPr>
            <p:extLst>
              <p:ext uri="{D42A27DB-BD31-4B8C-83A1-F6EECF244321}">
                <p14:modId xmlns:p14="http://schemas.microsoft.com/office/powerpoint/2010/main" val="1517766535"/>
              </p:ext>
            </p:extLst>
          </p:nvPr>
        </p:nvGraphicFramePr>
        <p:xfrm>
          <a:off x="1097280" y="3850005"/>
          <a:ext cx="10058400" cy="2133600"/>
        </p:xfrm>
        <a:graphic>
          <a:graphicData uri="http://schemas.openxmlformats.org/drawingml/2006/table">
            <a:tbl>
              <a:tblPr firstRow="1" bandRow="1">
                <a:tableStyleId>{5C22544A-7EE6-4342-B048-85BDC9FD1C3A}</a:tableStyleId>
              </a:tblPr>
              <a:tblGrid>
                <a:gridCol w="5029200"/>
                <a:gridCol w="5029200"/>
              </a:tblGrid>
              <a:tr h="0">
                <a:tc>
                  <a:txBody>
                    <a:bodyPr/>
                    <a:lstStyle/>
                    <a:p>
                      <a:r>
                        <a:rPr lang="en-GB" sz="2000" b="1" kern="1200" dirty="0" err="1" smtClean="0">
                          <a:solidFill>
                            <a:schemeClr val="lt1"/>
                          </a:solidFill>
                          <a:latin typeface="+mn-lt"/>
                          <a:ea typeface="+mn-ea"/>
                          <a:cs typeface="+mn-cs"/>
                        </a:rPr>
                        <a:t>Maßnahmen</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zur</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Chancen</a:t>
                      </a:r>
                      <a:endParaRPr lang="en-GB" sz="2000" dirty="0"/>
                    </a:p>
                  </a:txBody>
                  <a:tcPr/>
                </a:tc>
                <a:tc>
                  <a:txBody>
                    <a:bodyPr/>
                    <a:lstStyle/>
                    <a:p>
                      <a:r>
                        <a:rPr lang="en-GB" sz="2000" b="1" kern="1200" dirty="0" err="1" smtClean="0">
                          <a:solidFill>
                            <a:schemeClr val="lt1"/>
                          </a:solidFill>
                          <a:latin typeface="+mn-lt"/>
                          <a:ea typeface="+mn-ea"/>
                          <a:cs typeface="+mn-cs"/>
                        </a:rPr>
                        <a:t>Maßnahmen</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zur</a:t>
                      </a:r>
                      <a:r>
                        <a:rPr lang="en-GB" sz="2000" b="1" kern="1200" dirty="0" smtClean="0">
                          <a:solidFill>
                            <a:schemeClr val="lt1"/>
                          </a:solidFill>
                          <a:latin typeface="+mn-lt"/>
                          <a:ea typeface="+mn-ea"/>
                          <a:cs typeface="+mn-cs"/>
                        </a:rPr>
                        <a:t> </a:t>
                      </a:r>
                      <a:r>
                        <a:rPr lang="en-GB" sz="2000" b="1" kern="1200" dirty="0" err="1" smtClean="0">
                          <a:solidFill>
                            <a:schemeClr val="lt1"/>
                          </a:solidFill>
                          <a:latin typeface="+mn-lt"/>
                          <a:ea typeface="+mn-ea"/>
                          <a:cs typeface="+mn-cs"/>
                        </a:rPr>
                        <a:t>Risiken</a:t>
                      </a:r>
                      <a:endParaRPr lang="en-GB" sz="2000" dirty="0"/>
                    </a:p>
                  </a:txBody>
                  <a:tcPr/>
                </a:tc>
              </a:tr>
              <a:tr h="370840">
                <a:tc>
                  <a:txBody>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de-DE" sz="1800" i="0" kern="1200" dirty="0" smtClean="0">
                          <a:solidFill>
                            <a:schemeClr val="dk1"/>
                          </a:solidFill>
                          <a:latin typeface="+mn-lt"/>
                          <a:ea typeface="+mn-ea"/>
                          <a:cs typeface="+mn-cs"/>
                        </a:rPr>
                        <a:t>1. </a:t>
                      </a:r>
                      <a:r>
                        <a:rPr lang="de-DE" dirty="0" smtClean="0"/>
                        <a:t>Produkte als „gesetzeskonform &amp; zukunftssicher“ positionieren</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de-DE" sz="1800" i="0" kern="1200" dirty="0" smtClean="0">
                          <a:solidFill>
                            <a:schemeClr val="dk1"/>
                          </a:solidFill>
                          <a:latin typeface="+mn-lt"/>
                          <a:ea typeface="+mn-ea"/>
                          <a:cs typeface="+mn-cs"/>
                        </a:rPr>
                        <a:t>2. </a:t>
                      </a:r>
                      <a:r>
                        <a:rPr lang="en-GB" dirty="0" smtClean="0"/>
                        <a:t>UX &amp; Mobile-Shop </a:t>
                      </a:r>
                      <a:r>
                        <a:rPr lang="en-GB" dirty="0" err="1" smtClean="0"/>
                        <a:t>optimieren</a:t>
                      </a:r>
                      <a:endParaRPr lang="en-GB" dirty="0" smtClean="0"/>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GB" dirty="0" smtClean="0"/>
                        <a:t>3. </a:t>
                      </a:r>
                      <a:r>
                        <a:rPr lang="en-GB" dirty="0" err="1" smtClean="0"/>
                        <a:t>Partnerprogramme</a:t>
                      </a:r>
                      <a:r>
                        <a:rPr lang="en-GB" dirty="0" smtClean="0"/>
                        <a:t> </a:t>
                      </a:r>
                      <a:r>
                        <a:rPr lang="en-GB" dirty="0" err="1" smtClean="0"/>
                        <a:t>mit</a:t>
                      </a:r>
                      <a:r>
                        <a:rPr lang="en-GB" dirty="0" smtClean="0"/>
                        <a:t> Eco-Brands </a:t>
                      </a:r>
                      <a:r>
                        <a:rPr lang="en-GB" dirty="0" err="1" smtClean="0"/>
                        <a:t>starten</a:t>
                      </a:r>
                      <a:endParaRPr lang="en-GB" dirty="0"/>
                    </a:p>
                  </a:txBody>
                  <a:tcPr/>
                </a:tc>
                <a:tc>
                  <a:txBody>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en-GB" dirty="0" err="1" smtClean="0">
                          <a:effectLst/>
                        </a:rPr>
                        <a:t>Fokus</a:t>
                      </a:r>
                      <a:r>
                        <a:rPr lang="en-GB" dirty="0" smtClean="0">
                          <a:effectLst/>
                        </a:rPr>
                        <a:t> auf </a:t>
                      </a:r>
                      <a:r>
                        <a:rPr lang="en-GB" dirty="0" err="1" smtClean="0">
                          <a:effectLst/>
                        </a:rPr>
                        <a:t>Qualität</a:t>
                      </a:r>
                      <a:r>
                        <a:rPr lang="en-GB" dirty="0" smtClean="0">
                          <a:effectLst/>
                        </a:rPr>
                        <a:t> &amp; Storytelling</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en-GB" dirty="0" err="1" smtClean="0"/>
                        <a:t>Langfristige</a:t>
                      </a:r>
                      <a:r>
                        <a:rPr lang="en-GB" dirty="0" smtClean="0"/>
                        <a:t> </a:t>
                      </a:r>
                      <a:r>
                        <a:rPr lang="en-GB" dirty="0" err="1" smtClean="0"/>
                        <a:t>Lieferverträge</a:t>
                      </a:r>
                      <a:endParaRPr lang="en-GB" dirty="0" smtClean="0"/>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AutoNum type="arabicPeriod"/>
                        <a:tabLst/>
                        <a:defRPr/>
                      </a:pPr>
                      <a:r>
                        <a:rPr lang="en-GB" dirty="0" err="1" smtClean="0"/>
                        <a:t>Limitierte</a:t>
                      </a:r>
                      <a:r>
                        <a:rPr lang="en-GB" dirty="0" smtClean="0"/>
                        <a:t> </a:t>
                      </a:r>
                      <a:r>
                        <a:rPr lang="en-GB" dirty="0" err="1" smtClean="0"/>
                        <a:t>Kollektionen</a:t>
                      </a:r>
                      <a:r>
                        <a:rPr lang="en-GB" dirty="0" smtClean="0"/>
                        <a:t> </a:t>
                      </a:r>
                      <a:r>
                        <a:rPr lang="en-GB" dirty="0" err="1" smtClean="0"/>
                        <a:t>einführen</a:t>
                      </a:r>
                      <a:endParaRPr lang="en-GB" dirty="0" smtClean="0">
                        <a:effectLst/>
                      </a:endParaRPr>
                    </a:p>
                  </a:txBody>
                  <a:tcPr/>
                </a:tc>
              </a:tr>
            </a:tbl>
          </a:graphicData>
        </a:graphic>
      </p:graphicFrame>
      <p:pic>
        <p:nvPicPr>
          <p:cNvPr id="19" name="Picture 14" descr="Lade kostenlose Maßnahmen Icons im PNG- und SVG-Format herun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0444" y="4916805"/>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4" descr="Lade kostenlose Maßnahmen Icons im PNG- und SVG-Format herun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4619" y="4874895"/>
            <a:ext cx="731520" cy="73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75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7412"/>
                                        </p:tgtEl>
                                        <p:attrNameLst>
                                          <p:attrName>style.visibility</p:attrName>
                                        </p:attrNameLst>
                                      </p:cBhvr>
                                      <p:to>
                                        <p:strVal val="visible"/>
                                      </p:to>
                                    </p:set>
                                    <p:animEffect transition="in" filter="fade">
                                      <p:cBhvr>
                                        <p:cTn id="10" dur="500"/>
                                        <p:tgtEl>
                                          <p:spTgt spid="17412"/>
                                        </p:tgtEl>
                                      </p:cBhvr>
                                    </p:animEffect>
                                  </p:childTnLst>
                                </p:cTn>
                              </p:par>
                              <p:par>
                                <p:cTn id="11" presetID="10" presetClass="entr" presetSubtype="0" fill="hold" nodeType="withEffect">
                                  <p:stCondLst>
                                    <p:cond delay="0"/>
                                  </p:stCondLst>
                                  <p:childTnLst>
                                    <p:set>
                                      <p:cBhvr>
                                        <p:cTn id="12" dur="1" fill="hold">
                                          <p:stCondLst>
                                            <p:cond delay="0"/>
                                          </p:stCondLst>
                                        </p:cTn>
                                        <p:tgtEl>
                                          <p:spTgt spid="17420"/>
                                        </p:tgtEl>
                                        <p:attrNameLst>
                                          <p:attrName>style.visibility</p:attrName>
                                        </p:attrNameLst>
                                      </p:cBhvr>
                                      <p:to>
                                        <p:strVal val="visible"/>
                                      </p:to>
                                    </p:set>
                                    <p:animEffect transition="in" filter="fade">
                                      <p:cBhvr>
                                        <p:cTn id="13" dur="500"/>
                                        <p:tgtEl>
                                          <p:spTgt spid="17420"/>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chor="ctr">
            <a:normAutofit/>
          </a:bodyPr>
          <a:lstStyle/>
          <a:p>
            <a:r>
              <a:rPr lang="en-GB" sz="3600" b="1" dirty="0" err="1" smtClean="0"/>
              <a:t>Aufgabe</a:t>
            </a:r>
            <a:r>
              <a:rPr lang="en-GB" sz="3600" b="1" dirty="0" smtClean="0"/>
              <a:t> 4_Kundenbedürfnis </a:t>
            </a:r>
            <a:r>
              <a:rPr lang="en-GB" sz="3600" b="1" dirty="0"/>
              <a:t>1 – </a:t>
            </a:r>
            <a:r>
              <a:rPr lang="en-GB" sz="3600" b="1" dirty="0" err="1" smtClean="0"/>
              <a:t>Nachhaltigkeit</a:t>
            </a:r>
            <a:endParaRPr lang="en-GB" sz="3600" b="1" dirty="0"/>
          </a:p>
        </p:txBody>
      </p:sp>
      <p:sp>
        <p:nvSpPr>
          <p:cNvPr id="10" name="Content Placeholder 9"/>
          <p:cNvSpPr>
            <a:spLocks noGrp="1"/>
          </p:cNvSpPr>
          <p:nvPr>
            <p:ph sz="half" idx="2"/>
          </p:nvPr>
        </p:nvSpPr>
        <p:spPr>
          <a:xfrm>
            <a:off x="1295400" y="1924050"/>
            <a:ext cx="4718304" cy="4286250"/>
          </a:xfrm>
        </p:spPr>
        <p:txBody>
          <a:bodyPr>
            <a:normAutofit fontScale="85000" lnSpcReduction="20000"/>
          </a:bodyPr>
          <a:lstStyle/>
          <a:p>
            <a:pPr>
              <a:lnSpc>
                <a:spcPct val="120000"/>
              </a:lnSpc>
              <a:spcBef>
                <a:spcPts val="600"/>
              </a:spcBef>
              <a:spcAft>
                <a:spcPts val="0"/>
              </a:spcAft>
              <a:buFont typeface="Wingdings" panose="05000000000000000000" pitchFamily="2" charset="2"/>
              <a:buChar char="v"/>
            </a:pPr>
            <a:r>
              <a:rPr lang="de-DE" b="1" dirty="0" smtClean="0"/>
              <a:t>Auswahlkriterien</a:t>
            </a:r>
            <a:r>
              <a:rPr lang="de-DE" dirty="0" smtClean="0"/>
              <a:t> </a:t>
            </a:r>
          </a:p>
          <a:p>
            <a:pPr marL="0" indent="0">
              <a:lnSpc>
                <a:spcPct val="120000"/>
              </a:lnSpc>
              <a:spcBef>
                <a:spcPts val="600"/>
              </a:spcBef>
              <a:spcAft>
                <a:spcPts val="0"/>
              </a:spcAft>
            </a:pPr>
            <a:r>
              <a:rPr lang="de-DE" dirty="0" smtClean="0"/>
              <a:t>1. </a:t>
            </a:r>
            <a:r>
              <a:rPr lang="en-GB" dirty="0" err="1"/>
              <a:t>Plastikfreie</a:t>
            </a:r>
            <a:r>
              <a:rPr lang="en-GB" dirty="0"/>
              <a:t> </a:t>
            </a:r>
            <a:r>
              <a:rPr lang="en-GB" dirty="0" err="1"/>
              <a:t>Produktlebenszyklen</a:t>
            </a:r>
            <a:r>
              <a:rPr lang="de-DE" dirty="0" smtClean="0"/>
              <a:t> </a:t>
            </a:r>
          </a:p>
          <a:p>
            <a:pPr marL="0" indent="0">
              <a:lnSpc>
                <a:spcPct val="120000"/>
              </a:lnSpc>
              <a:spcBef>
                <a:spcPts val="600"/>
              </a:spcBef>
              <a:spcAft>
                <a:spcPts val="0"/>
              </a:spcAft>
            </a:pPr>
            <a:r>
              <a:rPr lang="de-DE" dirty="0" smtClean="0"/>
              <a:t>2</a:t>
            </a:r>
            <a:r>
              <a:rPr lang="de-DE" dirty="0"/>
              <a:t>. Nachwachsende Rohstoffe (z. B. Bambus) </a:t>
            </a:r>
            <a:endParaRPr lang="de-DE" dirty="0" smtClean="0"/>
          </a:p>
          <a:p>
            <a:pPr marL="0" indent="0">
              <a:lnSpc>
                <a:spcPct val="120000"/>
              </a:lnSpc>
              <a:spcBef>
                <a:spcPts val="600"/>
              </a:spcBef>
              <a:spcAft>
                <a:spcPts val="0"/>
              </a:spcAft>
            </a:pPr>
            <a:r>
              <a:rPr lang="en-GB" dirty="0" smtClean="0"/>
              <a:t>3</a:t>
            </a:r>
            <a:r>
              <a:rPr lang="en-GB" dirty="0"/>
              <a:t>. 100 % </a:t>
            </a:r>
            <a:r>
              <a:rPr lang="en-GB" dirty="0" err="1"/>
              <a:t>biologisch</a:t>
            </a:r>
            <a:r>
              <a:rPr lang="en-GB" dirty="0"/>
              <a:t> </a:t>
            </a:r>
            <a:r>
              <a:rPr lang="en-GB" dirty="0" err="1"/>
              <a:t>abbaubar</a:t>
            </a:r>
            <a:endParaRPr lang="en-GB" dirty="0"/>
          </a:p>
          <a:p>
            <a:pPr>
              <a:lnSpc>
                <a:spcPct val="120000"/>
              </a:lnSpc>
              <a:spcBef>
                <a:spcPts val="600"/>
              </a:spcBef>
              <a:spcAft>
                <a:spcPts val="0"/>
              </a:spcAft>
              <a:buFont typeface="Wingdings" panose="05000000000000000000" pitchFamily="2" charset="2"/>
              <a:buChar char="v"/>
            </a:pPr>
            <a:r>
              <a:rPr lang="en-GB" b="1" dirty="0" err="1" smtClean="0"/>
              <a:t>Kaufmotive</a:t>
            </a:r>
            <a:endParaRPr lang="en-GB" dirty="0" smtClean="0"/>
          </a:p>
          <a:p>
            <a:pPr marL="0" indent="0">
              <a:lnSpc>
                <a:spcPct val="120000"/>
              </a:lnSpc>
              <a:spcBef>
                <a:spcPts val="600"/>
              </a:spcBef>
              <a:spcAft>
                <a:spcPts val="0"/>
              </a:spcAft>
            </a:pPr>
            <a:r>
              <a:rPr lang="en-GB" dirty="0" smtClean="0"/>
              <a:t>1. </a:t>
            </a:r>
            <a:r>
              <a:rPr lang="de-DE" dirty="0" smtClean="0"/>
              <a:t>Ökologische Verantwortung. </a:t>
            </a:r>
          </a:p>
          <a:p>
            <a:pPr marL="0" indent="0">
              <a:lnSpc>
                <a:spcPct val="120000"/>
              </a:lnSpc>
              <a:spcBef>
                <a:spcPts val="600"/>
              </a:spcBef>
              <a:spcAft>
                <a:spcPts val="0"/>
              </a:spcAft>
            </a:pPr>
            <a:r>
              <a:rPr lang="de-DE" dirty="0" smtClean="0"/>
              <a:t>2. </a:t>
            </a:r>
            <a:r>
              <a:rPr lang="en-GB" dirty="0"/>
              <a:t>Schutz von </a:t>
            </a:r>
            <a:r>
              <a:rPr lang="en-GB" dirty="0" err="1"/>
              <a:t>Meeren</a:t>
            </a:r>
            <a:r>
              <a:rPr lang="en-GB" dirty="0"/>
              <a:t> &amp; </a:t>
            </a:r>
            <a:r>
              <a:rPr lang="en-GB" dirty="0" err="1"/>
              <a:t>Wäldern</a:t>
            </a:r>
            <a:r>
              <a:rPr lang="de-DE" dirty="0" smtClean="0"/>
              <a:t> </a:t>
            </a:r>
          </a:p>
          <a:p>
            <a:pPr marL="0" indent="0">
              <a:lnSpc>
                <a:spcPct val="120000"/>
              </a:lnSpc>
              <a:spcBef>
                <a:spcPts val="600"/>
              </a:spcBef>
              <a:spcAft>
                <a:spcPts val="0"/>
              </a:spcAft>
            </a:pPr>
            <a:r>
              <a:rPr lang="de-DE" dirty="0" smtClean="0"/>
              <a:t>3. </a:t>
            </a:r>
            <a:r>
              <a:rPr lang="en-GB" dirty="0" err="1"/>
              <a:t>Nachhaltigkeit</a:t>
            </a:r>
            <a:r>
              <a:rPr lang="en-GB" dirty="0"/>
              <a:t> </a:t>
            </a:r>
            <a:r>
              <a:rPr lang="en-GB" dirty="0" err="1"/>
              <a:t>als</a:t>
            </a:r>
            <a:r>
              <a:rPr lang="en-GB" dirty="0"/>
              <a:t> Wert</a:t>
            </a:r>
            <a:endParaRPr lang="de-DE" dirty="0" smtClean="0"/>
          </a:p>
          <a:p>
            <a:pPr>
              <a:lnSpc>
                <a:spcPct val="120000"/>
              </a:lnSpc>
              <a:spcBef>
                <a:spcPts val="600"/>
              </a:spcBef>
              <a:spcAft>
                <a:spcPts val="0"/>
              </a:spcAft>
              <a:buFont typeface="Wingdings" panose="05000000000000000000" pitchFamily="2" charset="2"/>
              <a:buChar char="v"/>
            </a:pPr>
            <a:r>
              <a:rPr lang="en-GB" b="1" dirty="0" err="1" smtClean="0"/>
              <a:t>Konkreter</a:t>
            </a:r>
            <a:r>
              <a:rPr lang="en-GB" b="1" dirty="0" smtClean="0"/>
              <a:t> </a:t>
            </a:r>
            <a:r>
              <a:rPr lang="en-GB" b="1" dirty="0" err="1" smtClean="0"/>
              <a:t>Bedarf</a:t>
            </a:r>
            <a:endParaRPr lang="en-GB" b="1" dirty="0" smtClean="0"/>
          </a:p>
          <a:p>
            <a:pPr marL="0" indent="0">
              <a:lnSpc>
                <a:spcPct val="120000"/>
              </a:lnSpc>
              <a:spcBef>
                <a:spcPts val="600"/>
              </a:spcBef>
              <a:spcAft>
                <a:spcPts val="0"/>
              </a:spcAft>
            </a:pPr>
            <a:r>
              <a:rPr lang="en-GB" dirty="0" smtClean="0"/>
              <a:t>1. </a:t>
            </a:r>
            <a:r>
              <a:rPr lang="de-DE" dirty="0" smtClean="0"/>
              <a:t>Bambuszahnbürste</a:t>
            </a:r>
          </a:p>
          <a:p>
            <a:pPr marL="0" indent="0">
              <a:lnSpc>
                <a:spcPct val="120000"/>
              </a:lnSpc>
              <a:spcBef>
                <a:spcPts val="600"/>
              </a:spcBef>
              <a:spcAft>
                <a:spcPts val="0"/>
              </a:spcAft>
            </a:pPr>
            <a:r>
              <a:rPr lang="de-DE" dirty="0" smtClean="0"/>
              <a:t>2. </a:t>
            </a:r>
            <a:r>
              <a:rPr lang="en-GB" dirty="0" err="1"/>
              <a:t>Baumwollbeutel</a:t>
            </a:r>
            <a:endParaRPr lang="de-DE" dirty="0" smtClean="0"/>
          </a:p>
          <a:p>
            <a:pPr marL="0" indent="0">
              <a:lnSpc>
                <a:spcPct val="120000"/>
              </a:lnSpc>
              <a:spcBef>
                <a:spcPts val="600"/>
              </a:spcBef>
              <a:spcAft>
                <a:spcPts val="0"/>
              </a:spcAft>
            </a:pPr>
            <a:r>
              <a:rPr lang="de-DE" dirty="0" smtClean="0"/>
              <a:t>3. </a:t>
            </a:r>
            <a:r>
              <a:rPr lang="en-GB" dirty="0" err="1"/>
              <a:t>Kompostierbare</a:t>
            </a:r>
            <a:r>
              <a:rPr lang="en-GB" dirty="0"/>
              <a:t> </a:t>
            </a:r>
            <a:r>
              <a:rPr lang="en-GB" dirty="0" err="1"/>
              <a:t>Schwämme</a:t>
            </a:r>
            <a:endParaRPr lang="en-GB" dirty="0"/>
          </a:p>
        </p:txBody>
      </p:sp>
      <p:sp>
        <p:nvSpPr>
          <p:cNvPr id="12" name="Content Placeholder 11"/>
          <p:cNvSpPr>
            <a:spLocks noGrp="1"/>
          </p:cNvSpPr>
          <p:nvPr>
            <p:ph sz="quarter" idx="4"/>
          </p:nvPr>
        </p:nvSpPr>
        <p:spPr>
          <a:xfrm>
            <a:off x="6180671" y="1924050"/>
            <a:ext cx="4718304" cy="4352925"/>
          </a:xfrm>
        </p:spPr>
        <p:txBody>
          <a:bodyPr>
            <a:noAutofit/>
          </a:bodyPr>
          <a:lstStyle/>
          <a:p>
            <a:pPr>
              <a:lnSpc>
                <a:spcPct val="100000"/>
              </a:lnSpc>
              <a:buFont typeface="Wingdings" panose="05000000000000000000" pitchFamily="2" charset="2"/>
              <a:buChar char="v"/>
            </a:pPr>
            <a:r>
              <a:rPr lang="en-GB" sz="1800" b="1" dirty="0" err="1" smtClean="0"/>
              <a:t>Kundenmittel</a:t>
            </a:r>
            <a:endParaRPr lang="de-DE" sz="1800" dirty="0" smtClean="0"/>
          </a:p>
          <a:p>
            <a:pPr>
              <a:lnSpc>
                <a:spcPct val="100000"/>
              </a:lnSpc>
            </a:pPr>
            <a:r>
              <a:rPr lang="de-DE" sz="1800" dirty="0" smtClean="0"/>
              <a:t>1. </a:t>
            </a:r>
            <a:r>
              <a:rPr lang="en-GB" sz="1800" dirty="0" err="1"/>
              <a:t>Beschaffungsquelle</a:t>
            </a:r>
            <a:r>
              <a:rPr lang="en-GB" sz="1800" dirty="0"/>
              <a:t> (</a:t>
            </a:r>
            <a:r>
              <a:rPr lang="en-GB" sz="1800" dirty="0" err="1"/>
              <a:t>Greenory</a:t>
            </a:r>
            <a:r>
              <a:rPr lang="en-GB" sz="1800" dirty="0"/>
              <a:t> Shop)</a:t>
            </a:r>
            <a:endParaRPr lang="de-DE" sz="1800" dirty="0"/>
          </a:p>
          <a:p>
            <a:pPr>
              <a:lnSpc>
                <a:spcPct val="100000"/>
              </a:lnSpc>
            </a:pPr>
            <a:r>
              <a:rPr lang="de-DE" sz="1800" dirty="0" smtClean="0"/>
              <a:t>2. </a:t>
            </a:r>
            <a:r>
              <a:rPr lang="en-GB" sz="1800" dirty="0" err="1"/>
              <a:t>Zeit</a:t>
            </a:r>
            <a:r>
              <a:rPr lang="en-GB" sz="1800" dirty="0"/>
              <a:t> </a:t>
            </a:r>
            <a:r>
              <a:rPr lang="en-GB" sz="1800" dirty="0" err="1"/>
              <a:t>für</a:t>
            </a:r>
            <a:r>
              <a:rPr lang="en-GB" sz="1800" dirty="0"/>
              <a:t> </a:t>
            </a:r>
            <a:r>
              <a:rPr lang="en-GB" sz="1800" dirty="0" err="1"/>
              <a:t>bewusste</a:t>
            </a:r>
            <a:r>
              <a:rPr lang="en-GB" sz="1800" dirty="0"/>
              <a:t> </a:t>
            </a:r>
            <a:r>
              <a:rPr lang="en-GB" sz="1800" dirty="0" err="1"/>
              <a:t>Auswahl</a:t>
            </a:r>
            <a:endParaRPr lang="de-DE" sz="1800" dirty="0" smtClean="0"/>
          </a:p>
          <a:p>
            <a:pPr>
              <a:lnSpc>
                <a:spcPct val="100000"/>
              </a:lnSpc>
            </a:pPr>
            <a:r>
              <a:rPr lang="de-DE" sz="1800" dirty="0" smtClean="0"/>
              <a:t>3. </a:t>
            </a:r>
            <a:r>
              <a:rPr lang="en-GB" sz="1800" dirty="0"/>
              <a:t>Budget </a:t>
            </a:r>
            <a:r>
              <a:rPr lang="en-GB" sz="1800" dirty="0" err="1"/>
              <a:t>für</a:t>
            </a:r>
            <a:r>
              <a:rPr lang="en-GB" sz="1800" dirty="0"/>
              <a:t> </a:t>
            </a:r>
            <a:r>
              <a:rPr lang="en-GB" sz="1800" dirty="0" err="1"/>
              <a:t>nachhaltige</a:t>
            </a:r>
            <a:r>
              <a:rPr lang="en-GB" sz="1800" dirty="0"/>
              <a:t> </a:t>
            </a:r>
            <a:r>
              <a:rPr lang="en-GB" sz="1800" dirty="0" err="1"/>
              <a:t>Produkte</a:t>
            </a:r>
            <a:endParaRPr lang="de-DE" sz="1800" dirty="0" smtClean="0"/>
          </a:p>
          <a:p>
            <a:pPr>
              <a:lnSpc>
                <a:spcPct val="100000"/>
              </a:lnSpc>
              <a:buFont typeface="Wingdings" panose="05000000000000000000" pitchFamily="2" charset="2"/>
              <a:buChar char="v"/>
            </a:pPr>
            <a:r>
              <a:rPr lang="de-DE" sz="1800" b="1" dirty="0" smtClean="0"/>
              <a:t>Kundennutzen</a:t>
            </a:r>
          </a:p>
          <a:p>
            <a:pPr>
              <a:lnSpc>
                <a:spcPct val="100000"/>
              </a:lnSpc>
            </a:pPr>
            <a:r>
              <a:rPr lang="de-DE" sz="1800" dirty="0" smtClean="0"/>
              <a:t>1. </a:t>
            </a:r>
            <a:r>
              <a:rPr lang="en-GB" sz="1800" dirty="0" err="1"/>
              <a:t>Weniger</a:t>
            </a:r>
            <a:r>
              <a:rPr lang="en-GB" sz="1800" dirty="0"/>
              <a:t> </a:t>
            </a:r>
            <a:r>
              <a:rPr lang="en-GB" sz="1800" dirty="0" err="1"/>
              <a:t>Abfall</a:t>
            </a:r>
            <a:r>
              <a:rPr lang="en-GB" sz="1800" dirty="0"/>
              <a:t> &amp; </a:t>
            </a:r>
            <a:r>
              <a:rPr lang="en-GB" sz="1800" dirty="0" err="1" smtClean="0"/>
              <a:t>Umweltentlastung</a:t>
            </a:r>
            <a:r>
              <a:rPr lang="de-DE" sz="1800" dirty="0" smtClean="0"/>
              <a:t> </a:t>
            </a:r>
          </a:p>
          <a:p>
            <a:pPr>
              <a:lnSpc>
                <a:spcPct val="100000"/>
              </a:lnSpc>
            </a:pPr>
            <a:r>
              <a:rPr lang="de-DE" sz="1800" dirty="0" smtClean="0"/>
              <a:t>2. </a:t>
            </a:r>
            <a:r>
              <a:rPr lang="en-GB" sz="1800" dirty="0" err="1"/>
              <a:t>Beitrag</a:t>
            </a:r>
            <a:r>
              <a:rPr lang="en-GB" sz="1800" dirty="0"/>
              <a:t> </a:t>
            </a:r>
            <a:r>
              <a:rPr lang="en-GB" sz="1800" dirty="0" err="1"/>
              <a:t>für</a:t>
            </a:r>
            <a:r>
              <a:rPr lang="en-GB" sz="1800" dirty="0"/>
              <a:t> </a:t>
            </a:r>
            <a:r>
              <a:rPr lang="en-GB" sz="1800" dirty="0" err="1"/>
              <a:t>zukünftige</a:t>
            </a:r>
            <a:r>
              <a:rPr lang="en-GB" sz="1800" dirty="0"/>
              <a:t> </a:t>
            </a:r>
            <a:r>
              <a:rPr lang="en-GB" sz="1800" dirty="0" err="1" smtClean="0"/>
              <a:t>Generationen</a:t>
            </a:r>
            <a:endParaRPr lang="de-DE" sz="1800" dirty="0" smtClean="0"/>
          </a:p>
          <a:p>
            <a:pPr>
              <a:lnSpc>
                <a:spcPct val="100000"/>
              </a:lnSpc>
            </a:pPr>
            <a:r>
              <a:rPr lang="de-DE" sz="1800" dirty="0" smtClean="0"/>
              <a:t>3</a:t>
            </a:r>
            <a:r>
              <a:rPr lang="de-DE" sz="1800" dirty="0"/>
              <a:t>. Höhere Lebensqualität durch intakte </a:t>
            </a:r>
            <a:r>
              <a:rPr lang="de-DE" sz="1800" dirty="0" smtClean="0"/>
              <a:t>Natur</a:t>
            </a:r>
            <a:endParaRPr lang="en" sz="1800" dirty="0"/>
          </a:p>
        </p:txBody>
      </p:sp>
      <p:pic>
        <p:nvPicPr>
          <p:cNvPr id="6"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Nachhaltigkeit - Kostenlose Ökologie und umwelt-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7751" y="-39579"/>
            <a:ext cx="1920239" cy="192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54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500"/>
                                        <p:tgtEl>
                                          <p:spTgt spid="10">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fade">
                                      <p:cBhvr>
                                        <p:cTn id="13" dur="500"/>
                                        <p:tgtEl>
                                          <p:spTgt spid="10">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fade">
                                      <p:cBhvr>
                                        <p:cTn id="16" dur="500"/>
                                        <p:tgtEl>
                                          <p:spTgt spid="10">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500"/>
                                        <p:tgtEl>
                                          <p:spTgt spid="10">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fade">
                                      <p:cBhvr>
                                        <p:cTn id="22" dur="500"/>
                                        <p:tgtEl>
                                          <p:spTgt spid="10">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Effect transition="in" filter="fade">
                                      <p:cBhvr>
                                        <p:cTn id="25" dur="500"/>
                                        <p:tgtEl>
                                          <p:spTgt spid="10">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xEl>
                                              <p:pRg st="7" end="7"/>
                                            </p:txEl>
                                          </p:spTgt>
                                        </p:tgtEl>
                                        <p:attrNameLst>
                                          <p:attrName>style.visibility</p:attrName>
                                        </p:attrNameLst>
                                      </p:cBhvr>
                                      <p:to>
                                        <p:strVal val="visible"/>
                                      </p:to>
                                    </p:set>
                                    <p:animEffect transition="in" filter="fade">
                                      <p:cBhvr>
                                        <p:cTn id="28" dur="500"/>
                                        <p:tgtEl>
                                          <p:spTgt spid="10">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Effect transition="in" filter="fade">
                                      <p:cBhvr>
                                        <p:cTn id="31" dur="500"/>
                                        <p:tgtEl>
                                          <p:spTgt spid="10">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xEl>
                                              <p:pRg st="9" end="9"/>
                                            </p:txEl>
                                          </p:spTgt>
                                        </p:tgtEl>
                                        <p:attrNameLst>
                                          <p:attrName>style.visibility</p:attrName>
                                        </p:attrNameLst>
                                      </p:cBhvr>
                                      <p:to>
                                        <p:strVal val="visible"/>
                                      </p:to>
                                    </p:set>
                                    <p:animEffect transition="in" filter="fade">
                                      <p:cBhvr>
                                        <p:cTn id="34" dur="500"/>
                                        <p:tgtEl>
                                          <p:spTgt spid="10">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fade">
                                      <p:cBhvr>
                                        <p:cTn id="37" dur="500"/>
                                        <p:tgtEl>
                                          <p:spTgt spid="10">
                                            <p:txEl>
                                              <p:pRg st="10" end="1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
                                            <p:txEl>
                                              <p:pRg st="11" end="11"/>
                                            </p:txEl>
                                          </p:spTgt>
                                        </p:tgtEl>
                                        <p:attrNameLst>
                                          <p:attrName>style.visibility</p:attrName>
                                        </p:attrNameLst>
                                      </p:cBhvr>
                                      <p:to>
                                        <p:strVal val="visible"/>
                                      </p:to>
                                    </p:set>
                                    <p:animEffect transition="in" filter="fade">
                                      <p:cBhvr>
                                        <p:cTn id="40" dur="500"/>
                                        <p:tgtEl>
                                          <p:spTgt spid="10">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fade">
                                      <p:cBhvr>
                                        <p:cTn id="43" dur="500"/>
                                        <p:tgtEl>
                                          <p:spTgt spid="12">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xEl>
                                              <p:pRg st="1" end="1"/>
                                            </p:txEl>
                                          </p:spTgt>
                                        </p:tgtEl>
                                        <p:attrNameLst>
                                          <p:attrName>style.visibility</p:attrName>
                                        </p:attrNameLst>
                                      </p:cBhvr>
                                      <p:to>
                                        <p:strVal val="visible"/>
                                      </p:to>
                                    </p:set>
                                    <p:animEffect transition="in" filter="fade">
                                      <p:cBhvr>
                                        <p:cTn id="46" dur="500"/>
                                        <p:tgtEl>
                                          <p:spTgt spid="12">
                                            <p:txEl>
                                              <p:pRg st="1" end="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
                                            <p:txEl>
                                              <p:pRg st="2" end="2"/>
                                            </p:txEl>
                                          </p:spTgt>
                                        </p:tgtEl>
                                        <p:attrNameLst>
                                          <p:attrName>style.visibility</p:attrName>
                                        </p:attrNameLst>
                                      </p:cBhvr>
                                      <p:to>
                                        <p:strVal val="visible"/>
                                      </p:to>
                                    </p:set>
                                    <p:animEffect transition="in" filter="fade">
                                      <p:cBhvr>
                                        <p:cTn id="49" dur="500"/>
                                        <p:tgtEl>
                                          <p:spTgt spid="12">
                                            <p:txEl>
                                              <p:pRg st="2" end="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xEl>
                                              <p:pRg st="3" end="3"/>
                                            </p:txEl>
                                          </p:spTgt>
                                        </p:tgtEl>
                                        <p:attrNameLst>
                                          <p:attrName>style.visibility</p:attrName>
                                        </p:attrNameLst>
                                      </p:cBhvr>
                                      <p:to>
                                        <p:strVal val="visible"/>
                                      </p:to>
                                    </p:set>
                                    <p:animEffect transition="in" filter="fade">
                                      <p:cBhvr>
                                        <p:cTn id="52" dur="500"/>
                                        <p:tgtEl>
                                          <p:spTgt spid="12">
                                            <p:txEl>
                                              <p:pRg st="3" end="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xEl>
                                              <p:pRg st="4" end="4"/>
                                            </p:txEl>
                                          </p:spTgt>
                                        </p:tgtEl>
                                        <p:attrNameLst>
                                          <p:attrName>style.visibility</p:attrName>
                                        </p:attrNameLst>
                                      </p:cBhvr>
                                      <p:to>
                                        <p:strVal val="visible"/>
                                      </p:to>
                                    </p:set>
                                    <p:animEffect transition="in" filter="fade">
                                      <p:cBhvr>
                                        <p:cTn id="55" dur="500"/>
                                        <p:tgtEl>
                                          <p:spTgt spid="12">
                                            <p:txEl>
                                              <p:pRg st="4" end="4"/>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xEl>
                                              <p:pRg st="5" end="5"/>
                                            </p:txEl>
                                          </p:spTgt>
                                        </p:tgtEl>
                                        <p:attrNameLst>
                                          <p:attrName>style.visibility</p:attrName>
                                        </p:attrNameLst>
                                      </p:cBhvr>
                                      <p:to>
                                        <p:strVal val="visible"/>
                                      </p:to>
                                    </p:set>
                                    <p:animEffect transition="in" filter="fade">
                                      <p:cBhvr>
                                        <p:cTn id="58" dur="500"/>
                                        <p:tgtEl>
                                          <p:spTgt spid="12">
                                            <p:txEl>
                                              <p:pRg st="5" end="5"/>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
                                            <p:txEl>
                                              <p:pRg st="6" end="6"/>
                                            </p:txEl>
                                          </p:spTgt>
                                        </p:tgtEl>
                                        <p:attrNameLst>
                                          <p:attrName>style.visibility</p:attrName>
                                        </p:attrNameLst>
                                      </p:cBhvr>
                                      <p:to>
                                        <p:strVal val="visible"/>
                                      </p:to>
                                    </p:set>
                                    <p:animEffect transition="in" filter="fade">
                                      <p:cBhvr>
                                        <p:cTn id="61" dur="500"/>
                                        <p:tgtEl>
                                          <p:spTgt spid="12">
                                            <p:txEl>
                                              <p:pRg st="6" end="6"/>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2">
                                            <p:txEl>
                                              <p:pRg st="7" end="7"/>
                                            </p:txEl>
                                          </p:spTgt>
                                        </p:tgtEl>
                                        <p:attrNameLst>
                                          <p:attrName>style.visibility</p:attrName>
                                        </p:attrNameLst>
                                      </p:cBhvr>
                                      <p:to>
                                        <p:strVal val="visible"/>
                                      </p:to>
                                    </p:set>
                                    <p:animEffect transition="in" filter="fade">
                                      <p:cBhvr>
                                        <p:cTn id="64"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6"/>
          <p:cNvSpPr>
            <a:spLocks noGrp="1"/>
          </p:cNvSpPr>
          <p:nvPr>
            <p:ph type="title"/>
          </p:nvPr>
        </p:nvSpPr>
        <p:spPr/>
        <p:txBody>
          <a:bodyPr anchor="ctr">
            <a:normAutofit/>
          </a:bodyPr>
          <a:lstStyle/>
          <a:p>
            <a:r>
              <a:rPr lang="en-GB" b="1" dirty="0" err="1" smtClean="0"/>
              <a:t>Kundenbedürfnis</a:t>
            </a:r>
            <a:r>
              <a:rPr lang="en-GB" b="1" dirty="0" smtClean="0"/>
              <a:t> </a:t>
            </a:r>
            <a:r>
              <a:rPr lang="en-GB" b="1" dirty="0"/>
              <a:t>2 – </a:t>
            </a:r>
            <a:r>
              <a:rPr lang="en-GB" b="1" dirty="0" smtClean="0"/>
              <a:t>Gesundheit</a:t>
            </a:r>
            <a:endParaRPr lang="en-GB" b="1" dirty="0"/>
          </a:p>
        </p:txBody>
      </p:sp>
      <p:sp>
        <p:nvSpPr>
          <p:cNvPr id="10" name="Content Placeholder 9"/>
          <p:cNvSpPr>
            <a:spLocks noGrp="1"/>
          </p:cNvSpPr>
          <p:nvPr>
            <p:ph sz="half" idx="2"/>
          </p:nvPr>
        </p:nvSpPr>
        <p:spPr>
          <a:xfrm>
            <a:off x="1295400" y="1924049"/>
            <a:ext cx="4718304" cy="4257675"/>
          </a:xfrm>
        </p:spPr>
        <p:txBody>
          <a:bodyPr>
            <a:normAutofit fontScale="85000" lnSpcReduction="20000"/>
          </a:bodyPr>
          <a:lstStyle/>
          <a:p>
            <a:pPr>
              <a:lnSpc>
                <a:spcPct val="120000"/>
              </a:lnSpc>
              <a:spcBef>
                <a:spcPts val="600"/>
              </a:spcBef>
              <a:spcAft>
                <a:spcPts val="0"/>
              </a:spcAft>
              <a:buFont typeface="Wingdings" panose="05000000000000000000" pitchFamily="2" charset="2"/>
              <a:buChar char="v"/>
            </a:pPr>
            <a:r>
              <a:rPr lang="de-DE" b="1" dirty="0" smtClean="0"/>
              <a:t>Auswahlkriterien</a:t>
            </a:r>
            <a:r>
              <a:rPr lang="de-DE" dirty="0" smtClean="0"/>
              <a:t> </a:t>
            </a:r>
          </a:p>
          <a:p>
            <a:pPr marL="0" indent="0">
              <a:lnSpc>
                <a:spcPct val="120000"/>
              </a:lnSpc>
              <a:spcBef>
                <a:spcPts val="600"/>
              </a:spcBef>
              <a:spcAft>
                <a:spcPts val="0"/>
              </a:spcAft>
            </a:pPr>
            <a:r>
              <a:rPr lang="de-DE" dirty="0" smtClean="0"/>
              <a:t>1. </a:t>
            </a:r>
            <a:r>
              <a:rPr lang="en-GB" dirty="0" err="1"/>
              <a:t>Zertifizierte</a:t>
            </a:r>
            <a:r>
              <a:rPr lang="en-GB" dirty="0"/>
              <a:t> </a:t>
            </a:r>
            <a:r>
              <a:rPr lang="en-GB" dirty="0" err="1"/>
              <a:t>Schadstofffreiheit</a:t>
            </a:r>
            <a:r>
              <a:rPr lang="de-DE" dirty="0" smtClean="0"/>
              <a:t>. </a:t>
            </a:r>
          </a:p>
          <a:p>
            <a:pPr marL="0" indent="0">
              <a:lnSpc>
                <a:spcPct val="120000"/>
              </a:lnSpc>
              <a:spcBef>
                <a:spcPts val="600"/>
              </a:spcBef>
              <a:spcAft>
                <a:spcPts val="0"/>
              </a:spcAft>
            </a:pPr>
            <a:r>
              <a:rPr lang="de-DE" dirty="0" smtClean="0"/>
              <a:t>2. </a:t>
            </a:r>
            <a:r>
              <a:rPr lang="en-GB" dirty="0" err="1"/>
              <a:t>Lebensmittelechte</a:t>
            </a:r>
            <a:r>
              <a:rPr lang="en-GB" dirty="0"/>
              <a:t> </a:t>
            </a:r>
            <a:r>
              <a:rPr lang="en-GB" dirty="0" err="1"/>
              <a:t>Materialien</a:t>
            </a:r>
            <a:endParaRPr lang="de-DE" dirty="0" smtClean="0"/>
          </a:p>
          <a:p>
            <a:pPr marL="0" indent="0">
              <a:lnSpc>
                <a:spcPct val="120000"/>
              </a:lnSpc>
              <a:spcBef>
                <a:spcPts val="600"/>
              </a:spcBef>
              <a:spcAft>
                <a:spcPts val="0"/>
              </a:spcAft>
            </a:pPr>
            <a:r>
              <a:rPr lang="de-DE" dirty="0" smtClean="0"/>
              <a:t>3. </a:t>
            </a:r>
            <a:r>
              <a:rPr lang="en-GB" dirty="0" err="1"/>
              <a:t>Ohne</a:t>
            </a:r>
            <a:r>
              <a:rPr lang="en-GB" dirty="0"/>
              <a:t> </a:t>
            </a:r>
            <a:r>
              <a:rPr lang="en-GB" dirty="0" err="1"/>
              <a:t>synthetische</a:t>
            </a:r>
            <a:r>
              <a:rPr lang="en-GB" dirty="0"/>
              <a:t> </a:t>
            </a:r>
            <a:r>
              <a:rPr lang="en-GB" dirty="0" err="1" smtClean="0"/>
              <a:t>Beschichtungen</a:t>
            </a:r>
            <a:endParaRPr lang="en-GB" dirty="0" smtClean="0"/>
          </a:p>
          <a:p>
            <a:pPr>
              <a:lnSpc>
                <a:spcPct val="120000"/>
              </a:lnSpc>
              <a:spcBef>
                <a:spcPts val="600"/>
              </a:spcBef>
              <a:spcAft>
                <a:spcPts val="0"/>
              </a:spcAft>
              <a:buFont typeface="Wingdings" panose="05000000000000000000" pitchFamily="2" charset="2"/>
              <a:buChar char="v"/>
            </a:pPr>
            <a:r>
              <a:rPr lang="de-DE" b="1" dirty="0" smtClean="0"/>
              <a:t>Kaufmotive</a:t>
            </a:r>
            <a:r>
              <a:rPr lang="de-DE" dirty="0" smtClean="0"/>
              <a:t> </a:t>
            </a:r>
          </a:p>
          <a:p>
            <a:pPr marL="0" indent="0">
              <a:lnSpc>
                <a:spcPct val="120000"/>
              </a:lnSpc>
              <a:spcBef>
                <a:spcPts val="600"/>
              </a:spcBef>
              <a:spcAft>
                <a:spcPts val="0"/>
              </a:spcAft>
            </a:pPr>
            <a:r>
              <a:rPr lang="de-DE" dirty="0" smtClean="0"/>
              <a:t>1. Persönliche Gesundheitsvorsorge </a:t>
            </a:r>
          </a:p>
          <a:p>
            <a:pPr marL="0" indent="0">
              <a:lnSpc>
                <a:spcPct val="120000"/>
              </a:lnSpc>
              <a:spcBef>
                <a:spcPts val="600"/>
              </a:spcBef>
              <a:spcAft>
                <a:spcPts val="0"/>
              </a:spcAft>
            </a:pPr>
            <a:r>
              <a:rPr lang="de-DE" dirty="0" smtClean="0"/>
              <a:t>2. Schutz </a:t>
            </a:r>
            <a:r>
              <a:rPr lang="de-DE" dirty="0"/>
              <a:t>vor </a:t>
            </a:r>
            <a:r>
              <a:rPr lang="de-DE" dirty="0" smtClean="0"/>
              <a:t>Mikroplastik </a:t>
            </a:r>
          </a:p>
          <a:p>
            <a:pPr marL="0" indent="0">
              <a:lnSpc>
                <a:spcPct val="120000"/>
              </a:lnSpc>
              <a:spcBef>
                <a:spcPts val="600"/>
              </a:spcBef>
              <a:spcAft>
                <a:spcPts val="0"/>
              </a:spcAft>
            </a:pPr>
            <a:r>
              <a:rPr lang="de-DE" dirty="0" smtClean="0"/>
              <a:t>3. körperliche </a:t>
            </a:r>
            <a:r>
              <a:rPr lang="de-DE" dirty="0"/>
              <a:t>Vitalität.</a:t>
            </a:r>
          </a:p>
          <a:p>
            <a:pPr>
              <a:lnSpc>
                <a:spcPct val="120000"/>
              </a:lnSpc>
              <a:spcBef>
                <a:spcPts val="600"/>
              </a:spcBef>
              <a:spcAft>
                <a:spcPts val="0"/>
              </a:spcAft>
              <a:buFont typeface="Wingdings" panose="05000000000000000000" pitchFamily="2" charset="2"/>
              <a:buChar char="v"/>
            </a:pPr>
            <a:r>
              <a:rPr lang="de-DE" b="1" dirty="0" smtClean="0"/>
              <a:t>Konkreter Bedarf</a:t>
            </a:r>
          </a:p>
          <a:p>
            <a:pPr marL="0" indent="0">
              <a:lnSpc>
                <a:spcPct val="120000"/>
              </a:lnSpc>
              <a:spcBef>
                <a:spcPts val="600"/>
              </a:spcBef>
              <a:spcAft>
                <a:spcPts val="0"/>
              </a:spcAft>
            </a:pPr>
            <a:r>
              <a:rPr lang="de-DE" dirty="0" smtClean="0"/>
              <a:t>1. Edelstahl-Trinkflasche</a:t>
            </a:r>
          </a:p>
          <a:p>
            <a:pPr marL="0" indent="0">
              <a:lnSpc>
                <a:spcPct val="120000"/>
              </a:lnSpc>
              <a:spcBef>
                <a:spcPts val="600"/>
              </a:spcBef>
              <a:spcAft>
                <a:spcPts val="0"/>
              </a:spcAft>
            </a:pPr>
            <a:r>
              <a:rPr lang="de-DE" dirty="0" smtClean="0"/>
              <a:t>2. Bienenwachstücher</a:t>
            </a:r>
          </a:p>
          <a:p>
            <a:pPr marL="0" indent="0">
              <a:lnSpc>
                <a:spcPct val="120000"/>
              </a:lnSpc>
              <a:spcBef>
                <a:spcPts val="600"/>
              </a:spcBef>
              <a:spcAft>
                <a:spcPts val="0"/>
              </a:spcAft>
            </a:pPr>
            <a:r>
              <a:rPr lang="de-DE" dirty="0" smtClean="0"/>
              <a:t> 3. Naturstein-Seifenablage</a:t>
            </a:r>
            <a:endParaRPr lang="de-DE" dirty="0"/>
          </a:p>
        </p:txBody>
      </p:sp>
      <p:sp>
        <p:nvSpPr>
          <p:cNvPr id="12" name="Content Placeholder 11"/>
          <p:cNvSpPr>
            <a:spLocks noGrp="1"/>
          </p:cNvSpPr>
          <p:nvPr>
            <p:ph sz="quarter" idx="4"/>
          </p:nvPr>
        </p:nvSpPr>
        <p:spPr>
          <a:xfrm>
            <a:off x="6180671" y="1924050"/>
            <a:ext cx="4718304" cy="4257675"/>
          </a:xfrm>
        </p:spPr>
        <p:txBody>
          <a:bodyPr>
            <a:normAutofit fontScale="92500"/>
          </a:bodyPr>
          <a:lstStyle/>
          <a:p>
            <a:pPr>
              <a:lnSpc>
                <a:spcPct val="120000"/>
              </a:lnSpc>
              <a:buFont typeface="Wingdings" panose="05000000000000000000" pitchFamily="2" charset="2"/>
              <a:buChar char="v"/>
            </a:pPr>
            <a:r>
              <a:rPr lang="en-GB" b="1" dirty="0" err="1" smtClean="0"/>
              <a:t>Kundenmittel</a:t>
            </a:r>
            <a:endParaRPr lang="en-GB" b="1" dirty="0"/>
          </a:p>
          <a:p>
            <a:pPr>
              <a:lnSpc>
                <a:spcPct val="120000"/>
              </a:lnSpc>
            </a:pPr>
            <a:r>
              <a:rPr lang="en-GB" dirty="0" smtClean="0"/>
              <a:t>1</a:t>
            </a:r>
            <a:r>
              <a:rPr lang="en-GB" dirty="0"/>
              <a:t>. </a:t>
            </a:r>
            <a:r>
              <a:rPr lang="en-GB" dirty="0" err="1"/>
              <a:t>Beschaffungsquelle</a:t>
            </a:r>
            <a:r>
              <a:rPr lang="en-GB" dirty="0"/>
              <a:t> (</a:t>
            </a:r>
            <a:r>
              <a:rPr lang="en-GB" dirty="0" err="1"/>
              <a:t>Greenory</a:t>
            </a:r>
            <a:r>
              <a:rPr lang="en-GB" dirty="0"/>
              <a:t> </a:t>
            </a:r>
            <a:r>
              <a:rPr lang="en-GB" dirty="0" err="1"/>
              <a:t>Onlineshop</a:t>
            </a:r>
            <a:r>
              <a:rPr lang="en-GB" dirty="0"/>
              <a:t>)</a:t>
            </a:r>
            <a:endParaRPr lang="en-GB" dirty="0" smtClean="0"/>
          </a:p>
          <a:p>
            <a:pPr>
              <a:lnSpc>
                <a:spcPct val="120000"/>
              </a:lnSpc>
            </a:pPr>
            <a:r>
              <a:rPr lang="de-DE" dirty="0" smtClean="0"/>
              <a:t>2. </a:t>
            </a:r>
            <a:r>
              <a:rPr lang="en-GB" dirty="0" err="1"/>
              <a:t>Zeit</a:t>
            </a:r>
            <a:r>
              <a:rPr lang="en-GB" dirty="0"/>
              <a:t> </a:t>
            </a:r>
            <a:r>
              <a:rPr lang="en-GB" dirty="0" err="1"/>
              <a:t>für</a:t>
            </a:r>
            <a:r>
              <a:rPr lang="en-GB" dirty="0"/>
              <a:t> </a:t>
            </a:r>
            <a:r>
              <a:rPr lang="en-GB" dirty="0" err="1"/>
              <a:t>bewusste</a:t>
            </a:r>
            <a:r>
              <a:rPr lang="en-GB" dirty="0"/>
              <a:t> </a:t>
            </a:r>
            <a:r>
              <a:rPr lang="en-GB" dirty="0" err="1"/>
              <a:t>Auswahl</a:t>
            </a:r>
            <a:endParaRPr lang="de-DE" dirty="0" smtClean="0"/>
          </a:p>
          <a:p>
            <a:pPr>
              <a:lnSpc>
                <a:spcPct val="120000"/>
              </a:lnSpc>
            </a:pPr>
            <a:r>
              <a:rPr lang="de-DE" dirty="0" smtClean="0"/>
              <a:t>3. </a:t>
            </a:r>
            <a:r>
              <a:rPr lang="en-GB" dirty="0"/>
              <a:t>Budget </a:t>
            </a:r>
            <a:r>
              <a:rPr lang="en-GB" dirty="0" err="1"/>
              <a:t>für</a:t>
            </a:r>
            <a:r>
              <a:rPr lang="en-GB" dirty="0"/>
              <a:t> </a:t>
            </a:r>
            <a:r>
              <a:rPr lang="en-GB" dirty="0" err="1"/>
              <a:t>hochwertige</a:t>
            </a:r>
            <a:r>
              <a:rPr lang="en-GB" dirty="0"/>
              <a:t> </a:t>
            </a:r>
            <a:r>
              <a:rPr lang="en-GB" dirty="0" err="1"/>
              <a:t>Produkte</a:t>
            </a:r>
            <a:endParaRPr lang="de-DE" dirty="0" smtClean="0"/>
          </a:p>
          <a:p>
            <a:pPr>
              <a:lnSpc>
                <a:spcPct val="120000"/>
              </a:lnSpc>
              <a:buFont typeface="Wingdings" panose="05000000000000000000" pitchFamily="2" charset="2"/>
              <a:buChar char="v"/>
            </a:pPr>
            <a:r>
              <a:rPr lang="de-DE" b="1" dirty="0" smtClean="0"/>
              <a:t>Kundennutzen</a:t>
            </a:r>
          </a:p>
          <a:p>
            <a:pPr>
              <a:lnSpc>
                <a:spcPct val="120000"/>
              </a:lnSpc>
            </a:pPr>
            <a:r>
              <a:rPr lang="de-DE" dirty="0" smtClean="0"/>
              <a:t>1. </a:t>
            </a:r>
            <a:r>
              <a:rPr lang="en-GB" dirty="0"/>
              <a:t>Schutz </a:t>
            </a:r>
            <a:r>
              <a:rPr lang="en-GB" dirty="0" err="1"/>
              <a:t>vor</a:t>
            </a:r>
            <a:r>
              <a:rPr lang="en-GB" dirty="0"/>
              <a:t> </a:t>
            </a:r>
            <a:r>
              <a:rPr lang="en-GB" dirty="0" err="1"/>
              <a:t>schädlichen</a:t>
            </a:r>
            <a:r>
              <a:rPr lang="en-GB" dirty="0"/>
              <a:t> </a:t>
            </a:r>
            <a:r>
              <a:rPr lang="en-GB" dirty="0" err="1"/>
              <a:t>Stoffen</a:t>
            </a:r>
            <a:r>
              <a:rPr lang="de-DE" dirty="0" smtClean="0"/>
              <a:t> </a:t>
            </a:r>
          </a:p>
          <a:p>
            <a:pPr>
              <a:lnSpc>
                <a:spcPct val="120000"/>
              </a:lnSpc>
            </a:pPr>
            <a:r>
              <a:rPr lang="de-DE" dirty="0" smtClean="0"/>
              <a:t>2</a:t>
            </a:r>
            <a:r>
              <a:rPr lang="de-DE" dirty="0"/>
              <a:t>. Sicheres, vertrauensvolles Gefühl im Alltag </a:t>
            </a:r>
            <a:endParaRPr lang="de-DE" dirty="0" smtClean="0"/>
          </a:p>
          <a:p>
            <a:pPr>
              <a:lnSpc>
                <a:spcPct val="120000"/>
              </a:lnSpc>
            </a:pPr>
            <a:r>
              <a:rPr lang="de-DE" dirty="0" smtClean="0"/>
              <a:t>3. </a:t>
            </a:r>
            <a:r>
              <a:rPr lang="en-GB" dirty="0" err="1"/>
              <a:t>Nachhaltiger</a:t>
            </a:r>
            <a:r>
              <a:rPr lang="en-GB" dirty="0"/>
              <a:t>, </a:t>
            </a:r>
            <a:r>
              <a:rPr lang="en-GB" dirty="0" err="1"/>
              <a:t>gesunder</a:t>
            </a:r>
            <a:r>
              <a:rPr lang="en-GB" dirty="0"/>
              <a:t> </a:t>
            </a:r>
            <a:r>
              <a:rPr lang="en-GB" dirty="0" err="1"/>
              <a:t>Lebensstil</a:t>
            </a:r>
            <a:endParaRPr lang="de-DE" dirty="0"/>
          </a:p>
        </p:txBody>
      </p:sp>
      <p:pic>
        <p:nvPicPr>
          <p:cNvPr id="6"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descr="Lade kostenlose Gesund Icons im PNG- und SVG-Format herun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5300" y="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15429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500"/>
                                        <p:tgtEl>
                                          <p:spTgt spid="1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fade">
                                      <p:cBhvr>
                                        <p:cTn id="13" dur="500"/>
                                        <p:tgtEl>
                                          <p:spTgt spid="1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fade">
                                      <p:cBhvr>
                                        <p:cTn id="16" dur="500"/>
                                        <p:tgtEl>
                                          <p:spTgt spid="10">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500"/>
                                        <p:tgtEl>
                                          <p:spTgt spid="10">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fade">
                                      <p:cBhvr>
                                        <p:cTn id="22" dur="500"/>
                                        <p:tgtEl>
                                          <p:spTgt spid="10">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Effect transition="in" filter="fade">
                                      <p:cBhvr>
                                        <p:cTn id="25" dur="500"/>
                                        <p:tgtEl>
                                          <p:spTgt spid="10">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xEl>
                                              <p:pRg st="7" end="7"/>
                                            </p:txEl>
                                          </p:spTgt>
                                        </p:tgtEl>
                                        <p:attrNameLst>
                                          <p:attrName>style.visibility</p:attrName>
                                        </p:attrNameLst>
                                      </p:cBhvr>
                                      <p:to>
                                        <p:strVal val="visible"/>
                                      </p:to>
                                    </p:set>
                                    <p:animEffect transition="in" filter="fade">
                                      <p:cBhvr>
                                        <p:cTn id="28" dur="500"/>
                                        <p:tgtEl>
                                          <p:spTgt spid="10">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Effect transition="in" filter="fade">
                                      <p:cBhvr>
                                        <p:cTn id="31" dur="500"/>
                                        <p:tgtEl>
                                          <p:spTgt spid="10">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xEl>
                                              <p:pRg st="9" end="9"/>
                                            </p:txEl>
                                          </p:spTgt>
                                        </p:tgtEl>
                                        <p:attrNameLst>
                                          <p:attrName>style.visibility</p:attrName>
                                        </p:attrNameLst>
                                      </p:cBhvr>
                                      <p:to>
                                        <p:strVal val="visible"/>
                                      </p:to>
                                    </p:set>
                                    <p:animEffect transition="in" filter="fade">
                                      <p:cBhvr>
                                        <p:cTn id="34" dur="500"/>
                                        <p:tgtEl>
                                          <p:spTgt spid="10">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fade">
                                      <p:cBhvr>
                                        <p:cTn id="37" dur="500"/>
                                        <p:tgtEl>
                                          <p:spTgt spid="10">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0">
                                            <p:txEl>
                                              <p:pRg st="11" end="11"/>
                                            </p:txEl>
                                          </p:spTgt>
                                        </p:tgtEl>
                                        <p:attrNameLst>
                                          <p:attrName>style.visibility</p:attrName>
                                        </p:attrNameLst>
                                      </p:cBhvr>
                                      <p:to>
                                        <p:strVal val="visible"/>
                                      </p:to>
                                    </p:set>
                                    <p:animEffect transition="in" filter="fade">
                                      <p:cBhvr>
                                        <p:cTn id="40" dur="500"/>
                                        <p:tgtEl>
                                          <p:spTgt spid="10">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fade">
                                      <p:cBhvr>
                                        <p:cTn id="45" dur="500"/>
                                        <p:tgtEl>
                                          <p:spTgt spid="12">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2">
                                            <p:txEl>
                                              <p:pRg st="1" end="1"/>
                                            </p:txEl>
                                          </p:spTgt>
                                        </p:tgtEl>
                                        <p:attrNameLst>
                                          <p:attrName>style.visibility</p:attrName>
                                        </p:attrNameLst>
                                      </p:cBhvr>
                                      <p:to>
                                        <p:strVal val="visible"/>
                                      </p:to>
                                    </p:set>
                                    <p:animEffect transition="in" filter="fade">
                                      <p:cBhvr>
                                        <p:cTn id="48" dur="500"/>
                                        <p:tgtEl>
                                          <p:spTgt spid="12">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2">
                                            <p:txEl>
                                              <p:pRg st="2" end="2"/>
                                            </p:txEl>
                                          </p:spTgt>
                                        </p:tgtEl>
                                        <p:attrNameLst>
                                          <p:attrName>style.visibility</p:attrName>
                                        </p:attrNameLst>
                                      </p:cBhvr>
                                      <p:to>
                                        <p:strVal val="visible"/>
                                      </p:to>
                                    </p:set>
                                    <p:animEffect transition="in" filter="fade">
                                      <p:cBhvr>
                                        <p:cTn id="51" dur="500"/>
                                        <p:tgtEl>
                                          <p:spTgt spid="12">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12">
                                            <p:txEl>
                                              <p:pRg st="3" end="3"/>
                                            </p:txEl>
                                          </p:spTgt>
                                        </p:tgtEl>
                                        <p:attrNameLst>
                                          <p:attrName>style.visibility</p:attrName>
                                        </p:attrNameLst>
                                      </p:cBhvr>
                                      <p:to>
                                        <p:strVal val="visible"/>
                                      </p:to>
                                    </p:set>
                                    <p:animEffect transition="in" filter="fade">
                                      <p:cBhvr>
                                        <p:cTn id="54" dur="500"/>
                                        <p:tgtEl>
                                          <p:spTgt spid="12">
                                            <p:txEl>
                                              <p:pRg st="3" end="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2">
                                            <p:txEl>
                                              <p:pRg st="4" end="4"/>
                                            </p:txEl>
                                          </p:spTgt>
                                        </p:tgtEl>
                                        <p:attrNameLst>
                                          <p:attrName>style.visibility</p:attrName>
                                        </p:attrNameLst>
                                      </p:cBhvr>
                                      <p:to>
                                        <p:strVal val="visible"/>
                                      </p:to>
                                    </p:set>
                                    <p:animEffect transition="in" filter="fade">
                                      <p:cBhvr>
                                        <p:cTn id="57" dur="500"/>
                                        <p:tgtEl>
                                          <p:spTgt spid="12">
                                            <p:txEl>
                                              <p:pRg st="4" end="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12">
                                            <p:txEl>
                                              <p:pRg st="5" end="5"/>
                                            </p:txEl>
                                          </p:spTgt>
                                        </p:tgtEl>
                                        <p:attrNameLst>
                                          <p:attrName>style.visibility</p:attrName>
                                        </p:attrNameLst>
                                      </p:cBhvr>
                                      <p:to>
                                        <p:strVal val="visible"/>
                                      </p:to>
                                    </p:set>
                                    <p:animEffect transition="in" filter="fade">
                                      <p:cBhvr>
                                        <p:cTn id="60" dur="500"/>
                                        <p:tgtEl>
                                          <p:spTgt spid="12">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12">
                                            <p:txEl>
                                              <p:pRg st="6" end="6"/>
                                            </p:txEl>
                                          </p:spTgt>
                                        </p:tgtEl>
                                        <p:attrNameLst>
                                          <p:attrName>style.visibility</p:attrName>
                                        </p:attrNameLst>
                                      </p:cBhvr>
                                      <p:to>
                                        <p:strVal val="visible"/>
                                      </p:to>
                                    </p:set>
                                    <p:animEffect transition="in" filter="fade">
                                      <p:cBhvr>
                                        <p:cTn id="63" dur="500"/>
                                        <p:tgtEl>
                                          <p:spTgt spid="12">
                                            <p:txEl>
                                              <p:pRg st="6" end="6"/>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12">
                                            <p:txEl>
                                              <p:pRg st="7" end="7"/>
                                            </p:txEl>
                                          </p:spTgt>
                                        </p:tgtEl>
                                        <p:attrNameLst>
                                          <p:attrName>style.visibility</p:attrName>
                                        </p:attrNameLst>
                                      </p:cBhvr>
                                      <p:to>
                                        <p:strVal val="visible"/>
                                      </p:to>
                                    </p:set>
                                    <p:animEffect transition="in" filter="fade">
                                      <p:cBhvr>
                                        <p:cTn id="66"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chor="ctr"/>
          <a:lstStyle/>
          <a:p>
            <a:r>
              <a:rPr lang="en-GB" b="1" dirty="0" err="1" smtClean="0"/>
              <a:t>Aufgabe</a:t>
            </a:r>
            <a:r>
              <a:rPr lang="en-GB" b="1" dirty="0" smtClean="0"/>
              <a:t> 5_Kano-Modell </a:t>
            </a:r>
            <a:endParaRPr lang="en-GB" dirty="0"/>
          </a:p>
        </p:txBody>
      </p:sp>
      <p:sp>
        <p:nvSpPr>
          <p:cNvPr id="8" name="Content Placeholder 7"/>
          <p:cNvSpPr>
            <a:spLocks noGrp="1"/>
          </p:cNvSpPr>
          <p:nvPr>
            <p:ph idx="1"/>
          </p:nvPr>
        </p:nvSpPr>
        <p:spPr>
          <a:xfrm>
            <a:off x="1173480" y="1838325"/>
            <a:ext cx="4693920" cy="4438649"/>
          </a:xfrm>
        </p:spPr>
        <p:txBody>
          <a:bodyPr>
            <a:normAutofit fontScale="85000" lnSpcReduction="20000"/>
          </a:bodyPr>
          <a:lstStyle/>
          <a:p>
            <a:pPr>
              <a:lnSpc>
                <a:spcPct val="120000"/>
              </a:lnSpc>
              <a:buFont typeface="Wingdings" panose="05000000000000000000" pitchFamily="2" charset="2"/>
              <a:buChar char="v"/>
            </a:pPr>
            <a:r>
              <a:rPr lang="de-DE" b="1" dirty="0"/>
              <a:t>Was zeigt das Modell?</a:t>
            </a:r>
            <a:r>
              <a:rPr lang="de-DE" dirty="0"/>
              <a:t> </a:t>
            </a:r>
            <a:endParaRPr lang="de-DE" dirty="0" smtClean="0"/>
          </a:p>
          <a:p>
            <a:pPr fontAlgn="base">
              <a:lnSpc>
                <a:spcPct val="120000"/>
              </a:lnSpc>
            </a:pPr>
            <a:r>
              <a:rPr lang="de-DE" sz="1900" dirty="0"/>
              <a:t>Das KANO‑Modell zeigt, wie Kundenbedürfnisse in Basis‑, Leistungs‑ und Begeisterungsmerkmale eingeteilt werden, um zu verstehen, welche Eigenschaften nur notwendig sind, welche die Zufriedenheit steigern und welche sogar stören können.</a:t>
            </a:r>
          </a:p>
          <a:p>
            <a:pPr>
              <a:lnSpc>
                <a:spcPct val="120000"/>
              </a:lnSpc>
              <a:buFont typeface="Wingdings" panose="05000000000000000000" pitchFamily="2" charset="2"/>
              <a:buChar char="v"/>
            </a:pPr>
            <a:r>
              <a:rPr lang="de-DE" b="1" dirty="0" smtClean="0"/>
              <a:t>Wozu </a:t>
            </a:r>
            <a:r>
              <a:rPr lang="de-DE" b="1" dirty="0"/>
              <a:t>ist es gut?</a:t>
            </a:r>
            <a:r>
              <a:rPr lang="de-DE" dirty="0"/>
              <a:t> </a:t>
            </a:r>
            <a:endParaRPr lang="de-DE" dirty="0" smtClean="0"/>
          </a:p>
          <a:p>
            <a:pPr>
              <a:lnSpc>
                <a:spcPct val="120000"/>
              </a:lnSpc>
            </a:pPr>
            <a:r>
              <a:rPr lang="de-DE" sz="1900" dirty="0" smtClean="0"/>
              <a:t>Unternehmen </a:t>
            </a:r>
            <a:r>
              <a:rPr lang="de-DE" sz="1900" dirty="0"/>
              <a:t>erkennen, welche Merkmale Pflicht, wichtig oder begeisternd sind</a:t>
            </a:r>
            <a:r>
              <a:rPr lang="de-DE" sz="1900" dirty="0" smtClean="0"/>
              <a:t>.</a:t>
            </a:r>
          </a:p>
          <a:p>
            <a:pPr>
              <a:lnSpc>
                <a:spcPct val="120000"/>
              </a:lnSpc>
              <a:buFont typeface="Wingdings" panose="05000000000000000000" pitchFamily="2" charset="2"/>
              <a:buChar char="v"/>
            </a:pPr>
            <a:r>
              <a:rPr lang="de-DE" b="1" dirty="0" smtClean="0"/>
              <a:t>Was </a:t>
            </a:r>
            <a:r>
              <a:rPr lang="de-DE" b="1" dirty="0"/>
              <a:t>lernen Unternehmen</a:t>
            </a:r>
            <a:r>
              <a:rPr lang="de-DE" b="1" dirty="0" smtClean="0"/>
              <a:t>?</a:t>
            </a:r>
          </a:p>
          <a:p>
            <a:pPr>
              <a:lnSpc>
                <a:spcPct val="120000"/>
              </a:lnSpc>
            </a:pPr>
            <a:r>
              <a:rPr lang="de-DE" dirty="0" smtClean="0"/>
              <a:t> </a:t>
            </a:r>
            <a:r>
              <a:rPr lang="de-DE" sz="1900" dirty="0"/>
              <a:t>Wo sie investieren müssen, um Zufriedenheit zu steigern.</a:t>
            </a:r>
            <a:endParaRPr lang="de-DE" sz="1900" dirty="0" smtClean="0"/>
          </a:p>
        </p:txBody>
      </p:sp>
      <p:pic>
        <p:nvPicPr>
          <p:cNvPr id="9"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Kano Model | Introduction, Working, and Benefits -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6" descr="Kano Model | Introduction, Working, and Benefits -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8" descr="Kano Model | Introduction, Working, and Benefits - GeeksforGeeks"/>
          <p:cNvSpPr>
            <a:spLocks noChangeAspect="1" noChangeArrowheads="1"/>
          </p:cNvSpPr>
          <p:nvPr/>
        </p:nvSpPr>
        <p:spPr bwMode="auto">
          <a:xfrm>
            <a:off x="460375" y="160337"/>
            <a:ext cx="0" cy="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50" name="Picture 10" descr="UX and the Kano model – Baymard Institu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3810000"/>
            <a:ext cx="0" cy="0"/>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descr="UX and the Kano model – Baymard Institu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555" y="2061972"/>
            <a:ext cx="4937760" cy="4029453"/>
          </a:xfrm>
          <a:prstGeom prst="rect">
            <a:avLst/>
          </a:prstGeom>
          <a:noFill/>
          <a:extLst>
            <a:ext uri="{909E8E84-426E-40DD-AFC4-6F175D3DCCD1}">
              <a14:hiddenFill xmlns:a14="http://schemas.microsoft.com/office/drawing/2010/main">
                <a:solidFill>
                  <a:srgbClr val="FFFFFF"/>
                </a:solidFill>
              </a14:hiddenFill>
            </a:ext>
          </a:extLst>
        </p:spPr>
      </p:pic>
      <p:pic>
        <p:nvPicPr>
          <p:cNvPr id="10256" name="Picture 16" descr="Kano model tool - publish and analyse Kano survey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9171" y="100965"/>
            <a:ext cx="2234144" cy="1737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79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500"/>
                                        <p:tgtEl>
                                          <p:spTgt spid="8">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252"/>
                                        </p:tgtEl>
                                        <p:attrNameLst>
                                          <p:attrName>style.visibility</p:attrName>
                                        </p:attrNameLst>
                                      </p:cBhvr>
                                      <p:to>
                                        <p:strVal val="visible"/>
                                      </p:to>
                                    </p:set>
                                    <p:animEffect transition="in" filter="fade">
                                      <p:cBhvr>
                                        <p:cTn id="25"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b="1" dirty="0"/>
              <a:t>KANO-Analyse – </a:t>
            </a:r>
            <a:r>
              <a:rPr lang="en-GB" b="1" dirty="0" err="1" smtClean="0"/>
              <a:t>Basismerkmale</a:t>
            </a:r>
            <a:r>
              <a:rPr lang="en-GB" b="1" dirty="0" smtClean="0"/>
              <a:t> </a:t>
            </a:r>
            <a:endParaRPr lang="en-GB" dirty="0"/>
          </a:p>
        </p:txBody>
      </p:sp>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Kano model tool - publish and analyse Kano survey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171" y="100965"/>
            <a:ext cx="2234144" cy="173736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990600" y="2076452"/>
            <a:ext cx="3857625" cy="244682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Geschäft (Onlineshop)</a:t>
            </a:r>
            <a:r>
              <a:rPr lang="de-DE" dirty="0">
                <a:solidFill>
                  <a:schemeClr val="tx1">
                    <a:lumMod val="75000"/>
                    <a:lumOff val="25000"/>
                  </a:schemeClr>
                </a:solidFill>
              </a:rPr>
              <a:t> </a:t>
            </a:r>
            <a:endParaRPr lang="fa-IR" dirty="0">
              <a:solidFill>
                <a:schemeClr val="tx1">
                  <a:lumMod val="75000"/>
                  <a:lumOff val="25000"/>
                </a:schemeClr>
              </a:solidFill>
            </a:endParaRPr>
          </a:p>
          <a:p>
            <a:pPr marL="342900" indent="-342900">
              <a:lnSpc>
                <a:spcPct val="150000"/>
              </a:lnSpc>
              <a:buAutoNum type="arabicPeriod"/>
            </a:pPr>
            <a:r>
              <a:rPr lang="de-DE" dirty="0"/>
              <a:t>Sichere </a:t>
            </a:r>
            <a:r>
              <a:rPr lang="de-DE" dirty="0" smtClean="0"/>
              <a:t>Zahlungsmethoden</a:t>
            </a:r>
          </a:p>
          <a:p>
            <a:pPr marL="342900" indent="-342900">
              <a:lnSpc>
                <a:spcPct val="150000"/>
              </a:lnSpc>
              <a:buAutoNum type="arabicPeriod"/>
            </a:pPr>
            <a:r>
              <a:rPr lang="de-DE" dirty="0" smtClean="0"/>
              <a:t>funktionierende Links</a:t>
            </a:r>
          </a:p>
          <a:p>
            <a:pPr marL="342900" indent="-342900">
              <a:lnSpc>
                <a:spcPct val="150000"/>
              </a:lnSpc>
              <a:buAutoNum type="arabicPeriod"/>
            </a:pPr>
            <a:r>
              <a:rPr lang="de-DE" dirty="0" smtClean="0"/>
              <a:t> </a:t>
            </a:r>
            <a:r>
              <a:rPr lang="de-DE" dirty="0"/>
              <a:t>klare rechtliche </a:t>
            </a:r>
            <a:r>
              <a:rPr lang="de-DE" dirty="0" smtClean="0"/>
              <a:t>Angaben</a:t>
            </a:r>
            <a:endParaRPr lang="en-GB" dirty="0"/>
          </a:p>
          <a:p>
            <a:pPr algn="ctr">
              <a:lnSpc>
                <a:spcPct val="150000"/>
              </a:lnSpc>
            </a:pPr>
            <a:endParaRPr lang="en-GB" dirty="0"/>
          </a:p>
          <a:p>
            <a:endParaRPr lang="en-GB" dirty="0"/>
          </a:p>
        </p:txBody>
      </p:sp>
      <p:sp>
        <p:nvSpPr>
          <p:cNvPr id="10" name="TextBox 9"/>
          <p:cNvSpPr txBox="1"/>
          <p:nvPr/>
        </p:nvSpPr>
        <p:spPr>
          <a:xfrm>
            <a:off x="4326255" y="2085977"/>
            <a:ext cx="3600449" cy="244682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Produkte</a:t>
            </a:r>
            <a:endParaRPr lang="fa-IR" b="1" dirty="0">
              <a:solidFill>
                <a:schemeClr val="tx1">
                  <a:lumMod val="75000"/>
                  <a:lumOff val="25000"/>
                </a:schemeClr>
              </a:solidFill>
            </a:endParaRPr>
          </a:p>
          <a:p>
            <a:pPr>
              <a:lnSpc>
                <a:spcPct val="150000"/>
              </a:lnSpc>
            </a:pPr>
            <a:r>
              <a:rPr lang="de-DE" dirty="0"/>
              <a:t> 1. </a:t>
            </a:r>
            <a:r>
              <a:rPr lang="de-DE" dirty="0" smtClean="0"/>
              <a:t>Schadstofffreiheit</a:t>
            </a:r>
            <a:endParaRPr lang="de-DE" dirty="0"/>
          </a:p>
          <a:p>
            <a:pPr>
              <a:lnSpc>
                <a:spcPct val="150000"/>
              </a:lnSpc>
            </a:pPr>
            <a:r>
              <a:rPr lang="de-DE" dirty="0"/>
              <a:t>2. tatsächliche Langlebigkeit </a:t>
            </a:r>
            <a:endParaRPr lang="de-DE" dirty="0" smtClean="0"/>
          </a:p>
          <a:p>
            <a:pPr>
              <a:lnSpc>
                <a:spcPct val="150000"/>
              </a:lnSpc>
            </a:pPr>
            <a:r>
              <a:rPr lang="de-DE" dirty="0" smtClean="0"/>
              <a:t>3</a:t>
            </a:r>
            <a:r>
              <a:rPr lang="de-DE" dirty="0"/>
              <a:t>. plastikfreie Versandverpackung.</a:t>
            </a:r>
          </a:p>
          <a:p>
            <a:pPr algn="ctr">
              <a:lnSpc>
                <a:spcPct val="150000"/>
              </a:lnSpc>
            </a:pPr>
            <a:endParaRPr lang="en-GB" dirty="0"/>
          </a:p>
          <a:p>
            <a:endParaRPr lang="en-GB" dirty="0"/>
          </a:p>
        </p:txBody>
      </p:sp>
      <p:sp>
        <p:nvSpPr>
          <p:cNvPr id="11" name="TextBox 10"/>
          <p:cNvSpPr txBox="1"/>
          <p:nvPr/>
        </p:nvSpPr>
        <p:spPr>
          <a:xfrm>
            <a:off x="8134348" y="2023963"/>
            <a:ext cx="3666225" cy="244682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Personal</a:t>
            </a:r>
            <a:endParaRPr lang="de-DE" dirty="0">
              <a:solidFill>
                <a:schemeClr val="tx1">
                  <a:lumMod val="75000"/>
                  <a:lumOff val="25000"/>
                </a:schemeClr>
              </a:solidFill>
            </a:endParaRPr>
          </a:p>
          <a:p>
            <a:pPr marL="342900" indent="-342900">
              <a:lnSpc>
                <a:spcPct val="150000"/>
              </a:lnSpc>
              <a:buAutoNum type="arabicPeriod"/>
            </a:pPr>
            <a:r>
              <a:rPr lang="de-DE" dirty="0"/>
              <a:t>Höflichkeit in der Kommunikation</a:t>
            </a:r>
          </a:p>
          <a:p>
            <a:pPr marL="342900" indent="-342900">
              <a:lnSpc>
                <a:spcPct val="150000"/>
              </a:lnSpc>
              <a:buAutoNum type="arabicPeriod"/>
            </a:pPr>
            <a:r>
              <a:rPr lang="de-DE" dirty="0"/>
              <a:t>Erreichbarkeit bei Reklamationen</a:t>
            </a:r>
          </a:p>
          <a:p>
            <a:pPr marL="342900" indent="-342900">
              <a:lnSpc>
                <a:spcPct val="150000"/>
              </a:lnSpc>
              <a:buAutoNum type="arabicPeriod"/>
            </a:pPr>
            <a:r>
              <a:rPr lang="de-DE" dirty="0"/>
              <a:t> professionelles Auftreten.</a:t>
            </a:r>
          </a:p>
          <a:p>
            <a:pPr algn="ctr">
              <a:lnSpc>
                <a:spcPct val="150000"/>
              </a:lnSpc>
            </a:pPr>
            <a:endParaRPr lang="en-GB" dirty="0"/>
          </a:p>
          <a:p>
            <a:endParaRPr lang="en-GB" dirty="0"/>
          </a:p>
        </p:txBody>
      </p:sp>
    </p:spTree>
    <p:extLst>
      <p:ext uri="{BB962C8B-B14F-4D97-AF65-F5344CB8AC3E}">
        <p14:creationId xmlns:p14="http://schemas.microsoft.com/office/powerpoint/2010/main" val="361989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sz="4400" b="1" dirty="0"/>
              <a:t>KANO-Analyse – </a:t>
            </a:r>
            <a:r>
              <a:rPr lang="en-GB" sz="4400" b="1" dirty="0" err="1"/>
              <a:t>Leistungsmerkmale</a:t>
            </a:r>
            <a:r>
              <a:rPr lang="en-GB" sz="4400" b="1" dirty="0"/>
              <a:t> </a:t>
            </a:r>
            <a:endParaRPr lang="en-GB" sz="4400" dirty="0"/>
          </a:p>
        </p:txBody>
      </p:sp>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descr="Kano model tool - publish and analyse Kano survey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9171" y="100965"/>
            <a:ext cx="2234144" cy="1737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97205" y="2178993"/>
            <a:ext cx="3846301" cy="1938992"/>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Geschäft (Onlineshop)</a:t>
            </a:r>
          </a:p>
          <a:p>
            <a:pPr marL="342900" indent="-342900">
              <a:lnSpc>
                <a:spcPct val="150000"/>
              </a:lnSpc>
              <a:buAutoNum type="arabicPeriod"/>
            </a:pPr>
            <a:r>
              <a:rPr lang="en-GB" sz="1600" dirty="0" err="1"/>
              <a:t>Hohe</a:t>
            </a:r>
            <a:r>
              <a:rPr lang="en-GB" sz="1600" dirty="0"/>
              <a:t> </a:t>
            </a:r>
            <a:r>
              <a:rPr lang="en-GB" sz="1600" dirty="0" err="1"/>
              <a:t>Ladegeschwindigkeit</a:t>
            </a:r>
            <a:endParaRPr lang="de-DE" sz="1600" dirty="0"/>
          </a:p>
          <a:p>
            <a:pPr marL="342900" indent="-342900">
              <a:lnSpc>
                <a:spcPct val="150000"/>
              </a:lnSpc>
              <a:buAutoNum type="arabicPeriod"/>
            </a:pPr>
            <a:r>
              <a:rPr lang="de-DE" sz="1600" dirty="0"/>
              <a:t> </a:t>
            </a:r>
            <a:r>
              <a:rPr lang="en-GB" sz="1600" dirty="0" err="1"/>
              <a:t>Einfache</a:t>
            </a:r>
            <a:r>
              <a:rPr lang="en-GB" sz="1600" dirty="0"/>
              <a:t>, intuitive Navigation</a:t>
            </a:r>
            <a:endParaRPr lang="de-DE" sz="1600" dirty="0" smtClean="0"/>
          </a:p>
          <a:p>
            <a:pPr marL="342900" indent="-342900">
              <a:lnSpc>
                <a:spcPct val="150000"/>
              </a:lnSpc>
              <a:buAutoNum type="arabicPeriod"/>
            </a:pPr>
            <a:r>
              <a:rPr lang="en-GB" sz="1600" dirty="0" err="1" smtClean="0"/>
              <a:t>Transparente</a:t>
            </a:r>
            <a:r>
              <a:rPr lang="en-GB" sz="1600" dirty="0" smtClean="0"/>
              <a:t> </a:t>
            </a:r>
            <a:r>
              <a:rPr lang="en-GB" sz="1600" dirty="0" err="1" smtClean="0"/>
              <a:t>Sendungsverfolgung</a:t>
            </a:r>
            <a:endParaRPr lang="de-DE" sz="1600" dirty="0" smtClean="0"/>
          </a:p>
          <a:p>
            <a:endParaRPr lang="en-GB" dirty="0"/>
          </a:p>
        </p:txBody>
      </p:sp>
      <p:sp>
        <p:nvSpPr>
          <p:cNvPr id="9" name="TextBox 8"/>
          <p:cNvSpPr txBox="1"/>
          <p:nvPr/>
        </p:nvSpPr>
        <p:spPr>
          <a:xfrm>
            <a:off x="3859302" y="2196134"/>
            <a:ext cx="4534356" cy="1892826"/>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Produkte</a:t>
            </a:r>
            <a:r>
              <a:rPr lang="de-DE" dirty="0">
                <a:solidFill>
                  <a:schemeClr val="tx1">
                    <a:lumMod val="75000"/>
                    <a:lumOff val="25000"/>
                  </a:schemeClr>
                </a:solidFill>
              </a:rPr>
              <a:t> </a:t>
            </a:r>
          </a:p>
          <a:p>
            <a:pPr marL="342900" indent="-342900">
              <a:lnSpc>
                <a:spcPct val="150000"/>
              </a:lnSpc>
              <a:buAutoNum type="arabicPeriod"/>
            </a:pPr>
            <a:r>
              <a:rPr lang="en-GB" sz="1600" dirty="0" err="1"/>
              <a:t>Hochwertige</a:t>
            </a:r>
            <a:r>
              <a:rPr lang="en-GB" sz="1600" dirty="0"/>
              <a:t> </a:t>
            </a:r>
            <a:r>
              <a:rPr lang="en-GB" sz="1600" dirty="0" err="1" smtClean="0"/>
              <a:t>Materialhaptik</a:t>
            </a:r>
            <a:endParaRPr lang="de-DE" sz="1600" dirty="0"/>
          </a:p>
          <a:p>
            <a:pPr marL="342900" indent="-342900">
              <a:lnSpc>
                <a:spcPct val="150000"/>
              </a:lnSpc>
              <a:buAutoNum type="arabicPeriod"/>
            </a:pPr>
            <a:r>
              <a:rPr lang="de-DE" sz="1600" dirty="0"/>
              <a:t> </a:t>
            </a:r>
            <a:r>
              <a:rPr lang="de-DE" sz="1600" dirty="0" smtClean="0"/>
              <a:t>Ergonomisches Design(z.B.Flaschen)</a:t>
            </a:r>
            <a:endParaRPr lang="de-DE" sz="1600" dirty="0"/>
          </a:p>
          <a:p>
            <a:pPr marL="342900" indent="-342900">
              <a:lnSpc>
                <a:spcPct val="150000"/>
              </a:lnSpc>
              <a:buAutoNum type="arabicPeriod"/>
            </a:pPr>
            <a:r>
              <a:rPr lang="de-DE" sz="1600" dirty="0"/>
              <a:t> </a:t>
            </a:r>
            <a:r>
              <a:rPr lang="en-GB" sz="1600" dirty="0" err="1"/>
              <a:t>Gleichbleibende</a:t>
            </a:r>
            <a:r>
              <a:rPr lang="en-GB" sz="1600" dirty="0"/>
              <a:t> </a:t>
            </a:r>
            <a:r>
              <a:rPr lang="en-GB" sz="1600" dirty="0" err="1"/>
              <a:t>Qualität</a:t>
            </a:r>
            <a:r>
              <a:rPr lang="en-GB" sz="1600" dirty="0"/>
              <a:t> </a:t>
            </a:r>
            <a:r>
              <a:rPr lang="en-GB" sz="1600" dirty="0" err="1"/>
              <a:t>bei</a:t>
            </a:r>
            <a:r>
              <a:rPr lang="en-GB" sz="1600" dirty="0"/>
              <a:t> </a:t>
            </a:r>
            <a:r>
              <a:rPr lang="en-GB" sz="1600" dirty="0" err="1"/>
              <a:t>Nachbestellungen</a:t>
            </a:r>
            <a:endParaRPr lang="de-DE" sz="1600" dirty="0"/>
          </a:p>
          <a:p>
            <a:endParaRPr lang="en-GB" dirty="0"/>
          </a:p>
        </p:txBody>
      </p:sp>
      <p:sp>
        <p:nvSpPr>
          <p:cNvPr id="11" name="TextBox 10"/>
          <p:cNvSpPr txBox="1"/>
          <p:nvPr/>
        </p:nvSpPr>
        <p:spPr>
          <a:xfrm>
            <a:off x="8324850" y="2196134"/>
            <a:ext cx="3867150" cy="1985159"/>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Personal</a:t>
            </a:r>
          </a:p>
          <a:p>
            <a:pPr marL="342900" indent="-342900">
              <a:lnSpc>
                <a:spcPct val="150000"/>
              </a:lnSpc>
              <a:buAutoNum type="arabicPeriod"/>
            </a:pPr>
            <a:r>
              <a:rPr lang="de-DE" sz="1600" dirty="0"/>
              <a:t>Fachkundige Beratung zu Nachhaltigkeit</a:t>
            </a:r>
          </a:p>
          <a:p>
            <a:pPr marL="342900" indent="-342900">
              <a:lnSpc>
                <a:spcPct val="150000"/>
              </a:lnSpc>
              <a:buAutoNum type="arabicPeriod"/>
            </a:pPr>
            <a:r>
              <a:rPr lang="de-DE" sz="1600" dirty="0" smtClean="0"/>
              <a:t>Sehr </a:t>
            </a:r>
            <a:r>
              <a:rPr lang="de-DE" sz="1600" dirty="0"/>
              <a:t>schnelle E-Mail-Reaktionszeiten</a:t>
            </a:r>
          </a:p>
          <a:p>
            <a:pPr marL="342900" indent="-342900">
              <a:lnSpc>
                <a:spcPct val="150000"/>
              </a:lnSpc>
              <a:buAutoNum type="arabicPeriod"/>
            </a:pPr>
            <a:r>
              <a:rPr lang="de-DE" sz="1600" dirty="0" smtClean="0"/>
              <a:t>Fehlerfreie </a:t>
            </a:r>
            <a:r>
              <a:rPr lang="de-DE" sz="1600" dirty="0"/>
              <a:t>Umsetzung von Sonderwünschen</a:t>
            </a:r>
            <a:endParaRPr lang="en-GB" dirty="0"/>
          </a:p>
        </p:txBody>
      </p:sp>
    </p:spTree>
    <p:extLst>
      <p:ext uri="{BB962C8B-B14F-4D97-AF65-F5344CB8AC3E}">
        <p14:creationId xmlns:p14="http://schemas.microsoft.com/office/powerpoint/2010/main" val="56742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sz="4000" b="1" dirty="0"/>
              <a:t>KANO-Analyse – </a:t>
            </a:r>
            <a:r>
              <a:rPr lang="en-GB" sz="4000" b="1" dirty="0" err="1"/>
              <a:t>Begeisterungsmerkmale</a:t>
            </a:r>
            <a:r>
              <a:rPr lang="en-GB" sz="4000" b="1" dirty="0"/>
              <a:t> </a:t>
            </a:r>
            <a:endParaRPr lang="en-GB" sz="4000" dirty="0"/>
          </a:p>
        </p:txBody>
      </p:sp>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6" descr="Kano model tool - publish and analyse Kano survey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9171" y="100965"/>
            <a:ext cx="2234144" cy="1737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97205" y="2019300"/>
            <a:ext cx="4171950" cy="212686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Geschäft (Unternehmen)</a:t>
            </a:r>
          </a:p>
          <a:p>
            <a:pPr marL="342900" indent="-342900">
              <a:lnSpc>
                <a:spcPct val="150000"/>
              </a:lnSpc>
              <a:buFont typeface="+mj-lt"/>
              <a:buAutoNum type="arabicPeriod"/>
            </a:pPr>
            <a:r>
              <a:rPr lang="de-DE" dirty="0">
                <a:solidFill>
                  <a:schemeClr val="tx1">
                    <a:lumMod val="75000"/>
                    <a:lumOff val="25000"/>
                  </a:schemeClr>
                </a:solidFill>
              </a:rPr>
              <a:t>Impact‑Dashboard im Kundenkonto (Plastikersparnis sichtbar)</a:t>
            </a:r>
          </a:p>
          <a:p>
            <a:pPr marL="342900" indent="-342900">
              <a:lnSpc>
                <a:spcPct val="150000"/>
              </a:lnSpc>
              <a:buFont typeface="+mj-lt"/>
              <a:buAutoNum type="arabicPeriod"/>
            </a:pPr>
            <a:r>
              <a:rPr lang="de-DE" dirty="0" smtClean="0">
                <a:solidFill>
                  <a:schemeClr val="tx1">
                    <a:lumMod val="75000"/>
                    <a:lumOff val="25000"/>
                  </a:schemeClr>
                </a:solidFill>
              </a:rPr>
              <a:t>Kooperationen </a:t>
            </a:r>
            <a:r>
              <a:rPr lang="de-DE" dirty="0">
                <a:solidFill>
                  <a:schemeClr val="tx1">
                    <a:lumMod val="75000"/>
                    <a:lumOff val="25000"/>
                  </a:schemeClr>
                </a:solidFill>
              </a:rPr>
              <a:t>mit Umweltprojekten, z. B. Baum­pflanzung pro Kauf</a:t>
            </a:r>
            <a:endParaRPr lang="en-GB" dirty="0"/>
          </a:p>
        </p:txBody>
      </p:sp>
      <p:sp>
        <p:nvSpPr>
          <p:cNvPr id="10" name="TextBox 9"/>
          <p:cNvSpPr txBox="1"/>
          <p:nvPr/>
        </p:nvSpPr>
        <p:spPr>
          <a:xfrm>
            <a:off x="4657724" y="2019300"/>
            <a:ext cx="3819525" cy="3000821"/>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de-DE" b="1" dirty="0">
                <a:solidFill>
                  <a:schemeClr val="tx1">
                    <a:lumMod val="75000"/>
                    <a:lumOff val="25000"/>
                  </a:schemeClr>
                </a:solidFill>
              </a:rPr>
              <a:t>Produkte</a:t>
            </a:r>
          </a:p>
          <a:p>
            <a:pPr marL="342900" indent="-342900">
              <a:lnSpc>
                <a:spcPct val="150000"/>
              </a:lnSpc>
              <a:buFont typeface="+mj-lt"/>
              <a:buAutoNum type="arabicPeriod"/>
            </a:pPr>
            <a:r>
              <a:rPr lang="de-DE" dirty="0"/>
              <a:t>Personalisierte Gravur auf der Edelstahlflasche</a:t>
            </a:r>
          </a:p>
          <a:p>
            <a:pPr marL="342900" indent="-342900">
              <a:lnSpc>
                <a:spcPct val="150000"/>
              </a:lnSpc>
              <a:buFont typeface="+mj-lt"/>
              <a:buAutoNum type="arabicPeriod"/>
            </a:pPr>
            <a:r>
              <a:rPr lang="de-DE" dirty="0" smtClean="0"/>
              <a:t>Kostenlose </a:t>
            </a:r>
            <a:r>
              <a:rPr lang="de-DE" dirty="0"/>
              <a:t>Pflanzensamen im Paket</a:t>
            </a:r>
          </a:p>
          <a:p>
            <a:pPr marL="342900" indent="-342900">
              <a:lnSpc>
                <a:spcPct val="150000"/>
              </a:lnSpc>
              <a:buFont typeface="+mj-lt"/>
              <a:buAutoNum type="arabicPeriod"/>
            </a:pPr>
            <a:r>
              <a:rPr lang="de-DE" dirty="0" smtClean="0"/>
              <a:t>Hochwertige </a:t>
            </a:r>
            <a:r>
              <a:rPr lang="de-DE" dirty="0"/>
              <a:t>QR‑Codes mit Herkunftsinformationen</a:t>
            </a:r>
            <a:endParaRPr lang="en-GB" dirty="0"/>
          </a:p>
        </p:txBody>
      </p:sp>
      <p:sp>
        <p:nvSpPr>
          <p:cNvPr id="11" name="TextBox 10"/>
          <p:cNvSpPr txBox="1"/>
          <p:nvPr/>
        </p:nvSpPr>
        <p:spPr>
          <a:xfrm>
            <a:off x="8058150" y="2019300"/>
            <a:ext cx="3895725" cy="3373359"/>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GB" b="1" dirty="0">
                <a:solidFill>
                  <a:schemeClr val="tx1">
                    <a:lumMod val="75000"/>
                    <a:lumOff val="25000"/>
                  </a:schemeClr>
                </a:solidFill>
              </a:rPr>
              <a:t>Personal</a:t>
            </a:r>
          </a:p>
          <a:p>
            <a:pPr marL="342900" indent="-342900">
              <a:lnSpc>
                <a:spcPct val="150000"/>
              </a:lnSpc>
              <a:buFont typeface="+mj-lt"/>
              <a:buAutoNum type="arabicPeriod"/>
            </a:pPr>
            <a:r>
              <a:rPr lang="en-GB" dirty="0">
                <a:solidFill>
                  <a:schemeClr val="tx1">
                    <a:lumMod val="75000"/>
                    <a:lumOff val="25000"/>
                  </a:schemeClr>
                </a:solidFill>
              </a:rPr>
              <a:t> </a:t>
            </a:r>
            <a:r>
              <a:rPr lang="de-DE" dirty="0">
                <a:solidFill>
                  <a:schemeClr val="tx1">
                    <a:lumMod val="75000"/>
                    <a:lumOff val="25000"/>
                  </a:schemeClr>
                </a:solidFill>
              </a:rPr>
              <a:t>Handgeschriebene Dankeskarten im Paket</a:t>
            </a:r>
          </a:p>
          <a:p>
            <a:pPr marL="342900" indent="-342900">
              <a:lnSpc>
                <a:spcPct val="150000"/>
              </a:lnSpc>
              <a:buFont typeface="+mj-lt"/>
              <a:buAutoNum type="arabicPeriod"/>
            </a:pPr>
            <a:r>
              <a:rPr lang="de-DE" dirty="0">
                <a:solidFill>
                  <a:schemeClr val="tx1">
                    <a:lumMod val="75000"/>
                    <a:lumOff val="25000"/>
                  </a:schemeClr>
                </a:solidFill>
              </a:rPr>
              <a:t>Proaktive Video‑Tipps zur optimalen Reinigung</a:t>
            </a:r>
          </a:p>
          <a:p>
            <a:pPr marL="342900" indent="-342900">
              <a:lnSpc>
                <a:spcPct val="150000"/>
              </a:lnSpc>
              <a:buFont typeface="+mj-lt"/>
              <a:buAutoNum type="arabicPeriod"/>
            </a:pPr>
            <a:r>
              <a:rPr lang="de-DE" dirty="0">
                <a:solidFill>
                  <a:schemeClr val="tx1">
                    <a:lumMod val="75000"/>
                    <a:lumOff val="25000"/>
                  </a:schemeClr>
                </a:solidFill>
              </a:rPr>
              <a:t>Exklusive Einladungen zu Zero‑Waste‑Online‑Workshops für Stammkunden</a:t>
            </a:r>
            <a:endParaRPr lang="en-GB" dirty="0">
              <a:solidFill>
                <a:schemeClr val="tx1">
                  <a:lumMod val="75000"/>
                  <a:lumOff val="25000"/>
                </a:schemeClr>
              </a:solidFill>
            </a:endParaRPr>
          </a:p>
        </p:txBody>
      </p:sp>
    </p:spTree>
    <p:extLst>
      <p:ext uri="{BB962C8B-B14F-4D97-AF65-F5344CB8AC3E}">
        <p14:creationId xmlns:p14="http://schemas.microsoft.com/office/powerpoint/2010/main" val="299328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b="1" smtClean="0"/>
              <a:t>Rückweisungsmerkmale</a:t>
            </a:r>
            <a:r>
              <a:rPr lang="en-GB" b="1" dirty="0" smtClean="0"/>
              <a:t> </a:t>
            </a:r>
            <a:endParaRPr lang="en-GB" dirty="0"/>
          </a:p>
        </p:txBody>
      </p:sp>
      <p:sp>
        <p:nvSpPr>
          <p:cNvPr id="3" name="Content Placeholder 2"/>
          <p:cNvSpPr>
            <a:spLocks noGrp="1"/>
          </p:cNvSpPr>
          <p:nvPr>
            <p:ph idx="1"/>
          </p:nvPr>
        </p:nvSpPr>
        <p:spPr/>
        <p:txBody>
          <a:bodyPr/>
          <a:lstStyle/>
          <a:p>
            <a:pPr>
              <a:lnSpc>
                <a:spcPct val="150000"/>
              </a:lnSpc>
            </a:pPr>
            <a:r>
              <a:rPr lang="de-DE" dirty="0" smtClean="0"/>
              <a:t>Diese </a:t>
            </a:r>
            <a:r>
              <a:rPr lang="de-DE" dirty="0"/>
              <a:t>Merkmale führen bei Nichterfüllung oder schlechter Qualität zum sofortigen Abbruch der Kundenbeziehung und zur Ablehnung der Marke Greenory.</a:t>
            </a:r>
            <a:endParaRPr lang="en-GB" b="1" dirty="0"/>
          </a:p>
          <a:p>
            <a:endParaRPr lang="en-GB" dirty="0"/>
          </a:p>
        </p:txBody>
      </p:sp>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 y="9525"/>
            <a:ext cx="1005840" cy="10058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Kano model tool - publish and analyse Kano survey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9171" y="100965"/>
            <a:ext cx="2234144" cy="173736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1000125" y="3133233"/>
            <a:ext cx="2867025" cy="2031325"/>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GB" b="1" dirty="0" err="1">
                <a:solidFill>
                  <a:schemeClr val="tx1">
                    <a:lumMod val="75000"/>
                    <a:lumOff val="25000"/>
                  </a:schemeClr>
                </a:solidFill>
              </a:rPr>
              <a:t>Geschäft</a:t>
            </a:r>
            <a:r>
              <a:rPr lang="en-GB" b="1" dirty="0">
                <a:solidFill>
                  <a:schemeClr val="tx1">
                    <a:lumMod val="75000"/>
                    <a:lumOff val="25000"/>
                  </a:schemeClr>
                </a:solidFill>
              </a:rPr>
              <a:t> (</a:t>
            </a:r>
            <a:r>
              <a:rPr lang="en-GB" b="1" dirty="0" err="1">
                <a:solidFill>
                  <a:schemeClr val="tx1">
                    <a:lumMod val="75000"/>
                    <a:lumOff val="25000"/>
                  </a:schemeClr>
                </a:solidFill>
              </a:rPr>
              <a:t>Onlineshop</a:t>
            </a:r>
            <a:r>
              <a:rPr lang="en-GB" b="1" dirty="0">
                <a:solidFill>
                  <a:schemeClr val="tx1">
                    <a:lumMod val="75000"/>
                    <a:lumOff val="25000"/>
                  </a:schemeClr>
                </a:solidFill>
              </a:rPr>
              <a:t>)</a:t>
            </a:r>
          </a:p>
          <a:p>
            <a:pPr marL="285750" indent="-285750">
              <a:lnSpc>
                <a:spcPct val="150000"/>
              </a:lnSpc>
              <a:buFont typeface="Arial" panose="020B0604020202020204" pitchFamily="34" charset="0"/>
              <a:buChar char="•"/>
            </a:pPr>
            <a:r>
              <a:rPr lang="de-DE" dirty="0">
                <a:solidFill>
                  <a:schemeClr val="tx1">
                    <a:lumMod val="75000"/>
                    <a:lumOff val="25000"/>
                  </a:schemeClr>
                </a:solidFill>
              </a:rPr>
              <a:t>Unzuverlässige Lieferung</a:t>
            </a:r>
            <a:endParaRPr lang="fa-IR"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Mangelnde Transparenz</a:t>
            </a:r>
            <a:endParaRPr lang="fa-IR"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Technische Fehler</a:t>
            </a:r>
            <a:endParaRPr lang="fa-IR" dirty="0">
              <a:solidFill>
                <a:schemeClr val="tx1">
                  <a:lumMod val="75000"/>
                  <a:lumOff val="25000"/>
                </a:schemeClr>
              </a:solidFill>
            </a:endParaRPr>
          </a:p>
          <a:p>
            <a:endParaRPr lang="en-GB" dirty="0">
              <a:solidFill>
                <a:schemeClr val="tx1">
                  <a:lumMod val="75000"/>
                  <a:lumOff val="25000"/>
                </a:schemeClr>
              </a:solidFill>
            </a:endParaRPr>
          </a:p>
        </p:txBody>
      </p:sp>
      <p:sp>
        <p:nvSpPr>
          <p:cNvPr id="10" name="TextBox 9"/>
          <p:cNvSpPr txBox="1"/>
          <p:nvPr/>
        </p:nvSpPr>
        <p:spPr>
          <a:xfrm>
            <a:off x="4265295" y="3133233"/>
            <a:ext cx="4002405" cy="2031325"/>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GB" b="1" dirty="0">
                <a:solidFill>
                  <a:schemeClr val="tx1">
                    <a:lumMod val="75000"/>
                    <a:lumOff val="25000"/>
                  </a:schemeClr>
                </a:solidFill>
              </a:rPr>
              <a:t> </a:t>
            </a:r>
            <a:r>
              <a:rPr lang="en-GB" b="1" dirty="0" err="1">
                <a:solidFill>
                  <a:schemeClr val="tx1">
                    <a:lumMod val="75000"/>
                    <a:lumOff val="25000"/>
                  </a:schemeClr>
                </a:solidFill>
              </a:rPr>
              <a:t>Produkte</a:t>
            </a:r>
            <a:endParaRPr lang="en-GB" b="1"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Mangelhafte Qualität:</a:t>
            </a:r>
            <a:endParaRPr lang="fa-IR"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Etikettenschwindel Greenwashing) </a:t>
            </a:r>
          </a:p>
          <a:p>
            <a:pPr marL="285750" indent="-285750">
              <a:lnSpc>
                <a:spcPct val="150000"/>
              </a:lnSpc>
              <a:buFont typeface="Arial" panose="020B0604020202020204" pitchFamily="34" charset="0"/>
              <a:buChar char="•"/>
            </a:pPr>
            <a:r>
              <a:rPr lang="de-DE" dirty="0">
                <a:solidFill>
                  <a:schemeClr val="tx1">
                    <a:lumMod val="75000"/>
                    <a:lumOff val="25000"/>
                  </a:schemeClr>
                </a:solidFill>
              </a:rPr>
              <a:t>Unattraktive/Unsaubere Verpackung</a:t>
            </a:r>
          </a:p>
          <a:p>
            <a:endParaRPr lang="en-GB" dirty="0">
              <a:solidFill>
                <a:schemeClr val="tx1">
                  <a:lumMod val="75000"/>
                  <a:lumOff val="25000"/>
                </a:schemeClr>
              </a:solidFill>
            </a:endParaRPr>
          </a:p>
        </p:txBody>
      </p:sp>
      <p:sp>
        <p:nvSpPr>
          <p:cNvPr id="11" name="TextBox 10"/>
          <p:cNvSpPr txBox="1"/>
          <p:nvPr/>
        </p:nvSpPr>
        <p:spPr>
          <a:xfrm>
            <a:off x="8463383" y="3123216"/>
            <a:ext cx="3019425" cy="2031325"/>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GB" b="1" dirty="0">
                <a:solidFill>
                  <a:schemeClr val="tx1">
                    <a:lumMod val="75000"/>
                    <a:lumOff val="25000"/>
                  </a:schemeClr>
                </a:solidFill>
              </a:rPr>
              <a:t>Personal</a:t>
            </a:r>
          </a:p>
          <a:p>
            <a:pPr marL="285750" indent="-285750">
              <a:lnSpc>
                <a:spcPct val="150000"/>
              </a:lnSpc>
              <a:buFont typeface="Arial" panose="020B0604020202020204" pitchFamily="34" charset="0"/>
              <a:buChar char="•"/>
            </a:pPr>
            <a:r>
              <a:rPr lang="de-DE" dirty="0">
                <a:solidFill>
                  <a:schemeClr val="tx1">
                    <a:lumMod val="75000"/>
                    <a:lumOff val="25000"/>
                  </a:schemeClr>
                </a:solidFill>
              </a:rPr>
              <a:t>Unfreundlichkeit</a:t>
            </a:r>
            <a:endParaRPr lang="fa-IR"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Lange Reaktionszeiten </a:t>
            </a:r>
            <a:endParaRPr lang="fa-IR" dirty="0">
              <a:solidFill>
                <a:schemeClr val="tx1">
                  <a:lumMod val="75000"/>
                  <a:lumOff val="25000"/>
                </a:schemeClr>
              </a:solidFill>
            </a:endParaRPr>
          </a:p>
          <a:p>
            <a:pPr marL="285750" indent="-285750">
              <a:lnSpc>
                <a:spcPct val="150000"/>
              </a:lnSpc>
              <a:buFont typeface="Arial" panose="020B0604020202020204" pitchFamily="34" charset="0"/>
              <a:buChar char="•"/>
            </a:pPr>
            <a:r>
              <a:rPr lang="de-DE" dirty="0">
                <a:solidFill>
                  <a:schemeClr val="tx1">
                    <a:lumMod val="75000"/>
                    <a:lumOff val="25000"/>
                  </a:schemeClr>
                </a:solidFill>
              </a:rPr>
              <a:t>Inkompetenz </a:t>
            </a:r>
            <a:endParaRPr lang="fa-IR" dirty="0">
              <a:solidFill>
                <a:schemeClr val="tx1">
                  <a:lumMod val="75000"/>
                  <a:lumOff val="25000"/>
                </a:schemeClr>
              </a:solidFill>
            </a:endParaRPr>
          </a:p>
          <a:p>
            <a:endParaRPr lang="en-GB" dirty="0">
              <a:solidFill>
                <a:schemeClr val="tx1">
                  <a:lumMod val="75000"/>
                  <a:lumOff val="25000"/>
                </a:schemeClr>
              </a:solidFill>
            </a:endParaRPr>
          </a:p>
        </p:txBody>
      </p:sp>
    </p:spTree>
    <p:extLst>
      <p:ext uri="{BB962C8B-B14F-4D97-AF65-F5344CB8AC3E}">
        <p14:creationId xmlns:p14="http://schemas.microsoft.com/office/powerpoint/2010/main" val="285644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Minimalistisches Logo für ein nachhaltiges Unternehmen namens Greenory: modernes Blatt-Symbol, klare Linien, runde Formen, Grüntöne, urban-natürlicher Stil, geeignet für Branding und Verpackungen. Unter dem Logo steht der Firmenname 'Greenory' in dunklem Grün, darunter der Slogan 'Nachhaltiges Leben in der Stadt' in kleinerer Schri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2078" y="543877"/>
            <a:ext cx="2560320" cy="25603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ctrTitle"/>
          </p:nvPr>
        </p:nvSpPr>
        <p:spPr>
          <a:xfrm>
            <a:off x="1100051" y="2838449"/>
            <a:ext cx="10058400" cy="867537"/>
          </a:xfrm>
        </p:spPr>
        <p:txBody>
          <a:bodyPr>
            <a:noAutofit/>
          </a:bodyPr>
          <a:lstStyle/>
          <a:p>
            <a:r>
              <a:rPr lang="de-DE" sz="4400" dirty="0">
                <a:solidFill>
                  <a:schemeClr val="accent2">
                    <a:lumMod val="75000"/>
                  </a:schemeClr>
                </a:solidFill>
              </a:rPr>
              <a:t>Greenory – </a:t>
            </a:r>
            <a:r>
              <a:rPr lang="de-DE" sz="4400" dirty="0" smtClean="0">
                <a:solidFill>
                  <a:schemeClr val="accent2">
                    <a:lumMod val="75000"/>
                  </a:schemeClr>
                </a:solidFill>
              </a:rPr>
              <a:t>Kleine </a:t>
            </a:r>
            <a:r>
              <a:rPr lang="de-DE" sz="4400" dirty="0">
                <a:solidFill>
                  <a:schemeClr val="accent2">
                    <a:lumMod val="75000"/>
                  </a:schemeClr>
                </a:solidFill>
              </a:rPr>
              <a:t>Produkte, großer </a:t>
            </a:r>
            <a:r>
              <a:rPr lang="de-DE" sz="4400" dirty="0" smtClean="0">
                <a:solidFill>
                  <a:schemeClr val="accent2">
                    <a:lumMod val="75000"/>
                  </a:schemeClr>
                </a:solidFill>
              </a:rPr>
              <a:t>Impact</a:t>
            </a:r>
            <a:endParaRPr lang="en-GB" sz="4400" dirty="0">
              <a:solidFill>
                <a:schemeClr val="accent2">
                  <a:lumMod val="75000"/>
                </a:schemeClr>
              </a:solidFill>
            </a:endParaRPr>
          </a:p>
        </p:txBody>
      </p:sp>
      <p:sp>
        <p:nvSpPr>
          <p:cNvPr id="6" name="Subtitle 5"/>
          <p:cNvSpPr>
            <a:spLocks noGrp="1"/>
          </p:cNvSpPr>
          <p:nvPr>
            <p:ph type="subTitle" idx="1"/>
          </p:nvPr>
        </p:nvSpPr>
        <p:spPr/>
        <p:txBody>
          <a:bodyPr/>
          <a:lstStyle/>
          <a:p>
            <a:pPr algn="ctr"/>
            <a:r>
              <a:rPr lang="en-GB" dirty="0" err="1"/>
              <a:t>Danke</a:t>
            </a:r>
            <a:r>
              <a:rPr lang="en-GB" dirty="0"/>
              <a:t> </a:t>
            </a:r>
            <a:r>
              <a:rPr lang="en-GB" dirty="0" err="1"/>
              <a:t>für</a:t>
            </a:r>
            <a:r>
              <a:rPr lang="en-GB" dirty="0"/>
              <a:t> </a:t>
            </a:r>
            <a:r>
              <a:rPr lang="en-GB" dirty="0" err="1"/>
              <a:t>Ihre</a:t>
            </a:r>
            <a:r>
              <a:rPr lang="en-GB" dirty="0"/>
              <a:t> </a:t>
            </a:r>
            <a:r>
              <a:rPr lang="en-GB" dirty="0" err="1"/>
              <a:t>Aufmerksamkeit</a:t>
            </a:r>
            <a:endParaRPr lang="de-DE" dirty="0" smtClean="0"/>
          </a:p>
          <a:p>
            <a:pPr algn="ctr"/>
            <a:r>
              <a:rPr lang="de-DE" dirty="0" smtClean="0"/>
              <a:t>Gemeinsam </a:t>
            </a:r>
            <a:r>
              <a:rPr lang="de-DE" dirty="0"/>
              <a:t>für ein plastikfreies </a:t>
            </a:r>
            <a:r>
              <a:rPr lang="de-DE" dirty="0" smtClean="0"/>
              <a:t>Leben</a:t>
            </a:r>
            <a:endParaRPr lang="en-GB" dirty="0"/>
          </a:p>
        </p:txBody>
      </p:sp>
    </p:spTree>
    <p:extLst>
      <p:ext uri="{BB962C8B-B14F-4D97-AF65-F5344CB8AC3E}">
        <p14:creationId xmlns:p14="http://schemas.microsoft.com/office/powerpoint/2010/main" val="10643235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605" y="142875"/>
            <a:ext cx="10058400" cy="1089660"/>
          </a:xfrm>
        </p:spPr>
        <p:txBody>
          <a:bodyPr anchor="ctr"/>
          <a:lstStyle/>
          <a:p>
            <a:r>
              <a:rPr lang="en-GB" b="1" dirty="0" err="1"/>
              <a:t>Referenzfotos</a:t>
            </a:r>
            <a:r>
              <a:rPr lang="en-GB" b="1" dirty="0"/>
              <a:t> und </a:t>
            </a:r>
            <a:r>
              <a:rPr lang="en-GB" b="1" dirty="0" err="1"/>
              <a:t>Symbole</a:t>
            </a:r>
            <a:endParaRPr lang="en-GB"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30445270"/>
              </p:ext>
            </p:extLst>
          </p:nvPr>
        </p:nvGraphicFramePr>
        <p:xfrm>
          <a:off x="1030605" y="1108710"/>
          <a:ext cx="10923588" cy="5212080"/>
        </p:xfrm>
        <a:graphic>
          <a:graphicData uri="http://schemas.openxmlformats.org/drawingml/2006/table">
            <a:tbl>
              <a:tblPr firstRow="1" bandRow="1">
                <a:tableStyleId>{5C22544A-7EE6-4342-B048-85BDC9FD1C3A}</a:tableStyleId>
              </a:tblPr>
              <a:tblGrid>
                <a:gridCol w="2211888"/>
                <a:gridCol w="8711700"/>
              </a:tblGrid>
              <a:tr h="370840">
                <a:tc>
                  <a:txBody>
                    <a:bodyPr/>
                    <a:lstStyle/>
                    <a:p>
                      <a:r>
                        <a:rPr lang="en-GB" sz="1600" dirty="0" err="1" smtClean="0"/>
                        <a:t>Bild</a:t>
                      </a:r>
                      <a:r>
                        <a:rPr lang="fa-IR" sz="1600" dirty="0" smtClean="0"/>
                        <a:t> </a:t>
                      </a:r>
                      <a:r>
                        <a:rPr lang="en-GB" sz="1600" dirty="0" smtClean="0"/>
                        <a:t> &amp;</a:t>
                      </a:r>
                      <a:r>
                        <a:rPr lang="en-GB" sz="1600" baseline="0" dirty="0" smtClean="0"/>
                        <a:t> Icon</a:t>
                      </a:r>
                      <a:endParaRPr lang="en-GB" sz="1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err="1" smtClean="0">
                          <a:effectLst/>
                        </a:rPr>
                        <a:t>Bild</a:t>
                      </a:r>
                      <a:r>
                        <a:rPr lang="en-GB" sz="1600" dirty="0" smtClean="0">
                          <a:effectLst/>
                        </a:rPr>
                        <a:t> &amp; </a:t>
                      </a:r>
                      <a:r>
                        <a:rPr lang="en-GB" sz="1600" dirty="0" err="1" smtClean="0">
                          <a:effectLst/>
                        </a:rPr>
                        <a:t>Iconquelle</a:t>
                      </a:r>
                      <a:endParaRPr lang="en-GB" sz="1600" dirty="0" smtClean="0">
                        <a:effectLst/>
                      </a:endParaRPr>
                    </a:p>
                  </a:txBody>
                  <a:tcPr anchor="ctr"/>
                </a:tc>
              </a:tr>
              <a:tr h="370840">
                <a:tc>
                  <a:txBody>
                    <a:bodyPr/>
                    <a:lstStyle/>
                    <a:p>
                      <a:pPr algn="l"/>
                      <a:r>
                        <a:rPr lang="en-GB" sz="1100" b="0" dirty="0" smtClean="0"/>
                        <a:t>KANO-Analyse Icon</a:t>
                      </a:r>
                      <a:endParaRPr lang="en-GB" sz="1100" b="0" dirty="0"/>
                    </a:p>
                  </a:txBody>
                  <a:tcPr anchor="ctr"/>
                </a:tc>
                <a:tc>
                  <a:txBody>
                    <a:bodyPr/>
                    <a:lstStyle/>
                    <a:p>
                      <a:r>
                        <a:rPr lang="en-GB" sz="1100" dirty="0" smtClean="0"/>
                        <a:t>https://www.kanosurveys.com</a:t>
                      </a:r>
                      <a:endParaRPr lang="en-GB" sz="1100" dirty="0"/>
                    </a:p>
                  </a:txBody>
                  <a:tcPr/>
                </a:tc>
              </a:tr>
              <a:tr h="370840">
                <a:tc>
                  <a:txBody>
                    <a:bodyPr/>
                    <a:lstStyle/>
                    <a:p>
                      <a:pPr algn="l"/>
                      <a:r>
                        <a:rPr lang="en-GB" sz="1100" b="0" dirty="0" err="1" smtClean="0"/>
                        <a:t>Nachhaltigkeit</a:t>
                      </a:r>
                      <a:r>
                        <a:rPr lang="en-GB" sz="1100" b="0" dirty="0" smtClean="0"/>
                        <a:t> Icon</a:t>
                      </a:r>
                      <a:endParaRPr lang="en-GB" sz="1100" b="0" dirty="0"/>
                    </a:p>
                  </a:txBody>
                  <a:tcPr anchor="ctr"/>
                </a:tc>
                <a:tc>
                  <a:txBody>
                    <a:bodyPr/>
                    <a:lstStyle/>
                    <a:p>
                      <a:r>
                        <a:rPr lang="en-GB" sz="1100" dirty="0" smtClean="0"/>
                        <a:t>https://www.flaticon.com/de/kostenloses-icon/nachhaltigkeit_9987776</a:t>
                      </a:r>
                      <a:endParaRPr lang="en-GB" sz="1100" dirty="0"/>
                    </a:p>
                  </a:txBody>
                  <a:tcPr/>
                </a:tc>
              </a:tr>
              <a:tr h="370840">
                <a:tc>
                  <a:txBody>
                    <a:bodyPr/>
                    <a:lstStyle/>
                    <a:p>
                      <a:pPr algn="l"/>
                      <a:r>
                        <a:rPr lang="en-GB" sz="1100" b="0" dirty="0" smtClean="0"/>
                        <a:t>Gesundheit Icon</a:t>
                      </a:r>
                      <a:endParaRPr lang="en-GB" sz="1100" b="0" dirty="0"/>
                    </a:p>
                  </a:txBody>
                  <a:tcPr anchor="ctr"/>
                </a:tc>
                <a:tc>
                  <a:txBody>
                    <a:bodyPr/>
                    <a:lstStyle/>
                    <a:p>
                      <a:r>
                        <a:rPr lang="en-GB" sz="1100" dirty="0" smtClean="0"/>
                        <a:t>https://www.flaticon.com/de/kostenloses-icon/nachhaltigkeit_9987776</a:t>
                      </a:r>
                      <a:endParaRPr lang="en-GB" sz="1100" dirty="0"/>
                    </a:p>
                  </a:txBody>
                  <a:tcPr/>
                </a:tc>
              </a:tr>
              <a:tr h="370840">
                <a:tc>
                  <a:txBody>
                    <a:bodyPr/>
                    <a:lstStyle/>
                    <a:p>
                      <a:pPr marL="0" algn="l" defTabSz="914400" rtl="0" eaLnBrk="1" latinLnBrk="0" hangingPunct="1"/>
                      <a:r>
                        <a:rPr lang="en-GB" sz="1100" b="0" kern="1200" dirty="0" err="1" smtClean="0">
                          <a:solidFill>
                            <a:schemeClr val="dk1"/>
                          </a:solidFill>
                          <a:latin typeface="+mn-lt"/>
                          <a:ea typeface="+mn-ea"/>
                          <a:cs typeface="+mn-cs"/>
                        </a:rPr>
                        <a:t>Maßnahmen</a:t>
                      </a:r>
                      <a:r>
                        <a:rPr lang="en-GB" sz="1100" b="0" kern="1200" dirty="0" smtClean="0">
                          <a:solidFill>
                            <a:schemeClr val="dk1"/>
                          </a:solidFill>
                          <a:latin typeface="+mn-lt"/>
                          <a:ea typeface="+mn-ea"/>
                          <a:cs typeface="+mn-cs"/>
                        </a:rPr>
                        <a:t>  Icon</a:t>
                      </a:r>
                      <a:endParaRPr lang="en-GB" sz="1100" b="0" kern="1200" dirty="0">
                        <a:solidFill>
                          <a:schemeClr val="dk1"/>
                        </a:solidFill>
                        <a:latin typeface="+mn-lt"/>
                        <a:ea typeface="+mn-ea"/>
                        <a:cs typeface="+mn-cs"/>
                      </a:endParaRPr>
                    </a:p>
                  </a:txBody>
                  <a:tcPr anchor="ctr"/>
                </a:tc>
                <a:tc>
                  <a:txBody>
                    <a:bodyPr/>
                    <a:lstStyle/>
                    <a:p>
                      <a:r>
                        <a:rPr lang="en-GB" sz="1100" dirty="0" smtClean="0"/>
                        <a:t>https://de.freepik.com/icons/ma%C3%9Fnahmen</a:t>
                      </a:r>
                      <a:endParaRPr lang="en-GB" sz="1100" dirty="0"/>
                    </a:p>
                  </a:txBody>
                  <a:tcPr/>
                </a:tc>
              </a:tr>
              <a:tr h="370840">
                <a:tc>
                  <a:txBody>
                    <a:bodyPr/>
                    <a:lstStyle/>
                    <a:p>
                      <a:pPr marL="0" algn="l" defTabSz="914400" rtl="0" eaLnBrk="1" latinLnBrk="0" hangingPunct="1"/>
                      <a:r>
                        <a:rPr lang="en-GB" sz="1100" b="0" kern="1200" dirty="0" err="1" smtClean="0">
                          <a:solidFill>
                            <a:schemeClr val="dk1"/>
                          </a:solidFill>
                          <a:latin typeface="+mn-lt"/>
                          <a:ea typeface="+mn-ea"/>
                          <a:cs typeface="+mn-cs"/>
                        </a:rPr>
                        <a:t>Risiken</a:t>
                      </a:r>
                      <a:r>
                        <a:rPr lang="en-GB" sz="1100" b="0" kern="1200" dirty="0" smtClean="0">
                          <a:solidFill>
                            <a:schemeClr val="dk1"/>
                          </a:solidFill>
                          <a:latin typeface="+mn-lt"/>
                          <a:ea typeface="+mn-ea"/>
                          <a:cs typeface="+mn-cs"/>
                        </a:rPr>
                        <a:t> Icon</a:t>
                      </a:r>
                      <a:endParaRPr lang="en-GB" sz="1100" b="0" kern="1200" dirty="0">
                        <a:solidFill>
                          <a:schemeClr val="dk1"/>
                        </a:solidFill>
                        <a:latin typeface="+mn-lt"/>
                        <a:ea typeface="+mn-ea"/>
                        <a:cs typeface="+mn-cs"/>
                      </a:endParaRPr>
                    </a:p>
                  </a:txBody>
                  <a:tcPr anchor="ctr"/>
                </a:tc>
                <a:tc>
                  <a:txBody>
                    <a:bodyPr/>
                    <a:lstStyle/>
                    <a:p>
                      <a:r>
                        <a:rPr lang="en-GB" sz="1100" dirty="0" smtClean="0"/>
                        <a:t>https://de.vecteezy.com/png/50703004-risiko-tachometer-risiko-spur-symbol-hoch-risiko-meter</a:t>
                      </a:r>
                      <a:endParaRPr lang="en-GB" sz="1100" dirty="0"/>
                    </a:p>
                  </a:txBody>
                  <a:tcPr/>
                </a:tc>
              </a:tr>
              <a:tr h="370840">
                <a:tc>
                  <a:txBody>
                    <a:bodyPr/>
                    <a:lstStyle/>
                    <a:p>
                      <a:pPr marL="0" algn="l" defTabSz="914400" rtl="0" eaLnBrk="1" latinLnBrk="0" hangingPunct="1"/>
                      <a:r>
                        <a:rPr lang="en-GB" sz="1100" b="0" kern="1200" dirty="0" err="1" smtClean="0">
                          <a:solidFill>
                            <a:schemeClr val="dk1"/>
                          </a:solidFill>
                          <a:latin typeface="+mn-lt"/>
                          <a:ea typeface="+mn-ea"/>
                          <a:cs typeface="+mn-cs"/>
                        </a:rPr>
                        <a:t>Chancen</a:t>
                      </a:r>
                      <a:r>
                        <a:rPr lang="en-GB" sz="1100" b="0" kern="1200" dirty="0" smtClean="0">
                          <a:solidFill>
                            <a:schemeClr val="dk1"/>
                          </a:solidFill>
                          <a:latin typeface="+mn-lt"/>
                          <a:ea typeface="+mn-ea"/>
                          <a:cs typeface="+mn-cs"/>
                        </a:rPr>
                        <a:t> Icon</a:t>
                      </a:r>
                      <a:endParaRPr lang="en-GB" sz="1100" b="0" kern="1200" dirty="0">
                        <a:solidFill>
                          <a:schemeClr val="dk1"/>
                        </a:solidFill>
                        <a:latin typeface="+mn-lt"/>
                        <a:ea typeface="+mn-ea"/>
                        <a:cs typeface="+mn-cs"/>
                      </a:endParaRPr>
                    </a:p>
                  </a:txBody>
                  <a:tcPr anchor="ctr"/>
                </a:tc>
                <a:tc>
                  <a:txBody>
                    <a:bodyPr/>
                    <a:lstStyle/>
                    <a:p>
                      <a:r>
                        <a:rPr lang="en-GB" sz="1100" dirty="0" smtClean="0"/>
                        <a:t>https://www.flaticon.com/de/kostenloses-icon/chance_2118181</a:t>
                      </a:r>
                      <a:endParaRPr lang="en-GB" sz="1100" dirty="0"/>
                    </a:p>
                  </a:txBody>
                  <a:tcPr/>
                </a:tc>
              </a:tr>
              <a:tr h="370840">
                <a:tc>
                  <a:txBody>
                    <a:bodyPr/>
                    <a:lstStyle/>
                    <a:p>
                      <a:pPr marL="0" algn="l" defTabSz="914400" rtl="0" eaLnBrk="1" latinLnBrk="0" hangingPunct="1"/>
                      <a:r>
                        <a:rPr lang="en-GB" sz="1100" b="0" kern="1200" dirty="0" err="1" smtClean="0">
                          <a:solidFill>
                            <a:schemeClr val="dk1"/>
                          </a:solidFill>
                          <a:latin typeface="+mn-lt"/>
                          <a:ea typeface="+mn-ea"/>
                          <a:cs typeface="+mn-cs"/>
                        </a:rPr>
                        <a:t>Schwächen</a:t>
                      </a:r>
                      <a:r>
                        <a:rPr lang="en-GB" sz="1100" b="0" kern="1200" dirty="0" smtClean="0">
                          <a:solidFill>
                            <a:schemeClr val="dk1"/>
                          </a:solidFill>
                          <a:latin typeface="+mn-lt"/>
                          <a:ea typeface="+mn-ea"/>
                          <a:cs typeface="+mn-cs"/>
                        </a:rPr>
                        <a:t> Icon</a:t>
                      </a:r>
                      <a:endParaRPr lang="en-GB" sz="1100" b="0" kern="1200" dirty="0">
                        <a:solidFill>
                          <a:schemeClr val="dk1"/>
                        </a:solidFill>
                        <a:latin typeface="+mn-lt"/>
                        <a:ea typeface="+mn-ea"/>
                        <a:cs typeface="+mn-cs"/>
                      </a:endParaRPr>
                    </a:p>
                  </a:txBody>
                  <a:tcPr anchor="ctr"/>
                </a:tc>
                <a:tc>
                  <a:txBody>
                    <a:bodyPr/>
                    <a:lstStyle/>
                    <a:p>
                      <a:r>
                        <a:rPr lang="en-GB" sz="1100" dirty="0" smtClean="0"/>
                        <a:t>https://www.flaticon.com/de/kostenloses-icon/die-schwache_4796520</a:t>
                      </a:r>
                      <a:endParaRPr lang="en-GB" sz="1100"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0" kern="1200" dirty="0" err="1" smtClean="0">
                          <a:solidFill>
                            <a:schemeClr val="dk1"/>
                          </a:solidFill>
                          <a:latin typeface="+mn-lt"/>
                          <a:ea typeface="+mn-ea"/>
                          <a:cs typeface="+mn-cs"/>
                        </a:rPr>
                        <a:t>Stärken</a:t>
                      </a:r>
                      <a:r>
                        <a:rPr lang="en-GB" sz="1100" b="0" kern="1200" dirty="0" smtClean="0">
                          <a:solidFill>
                            <a:schemeClr val="dk1"/>
                          </a:solidFill>
                          <a:latin typeface="+mn-lt"/>
                          <a:ea typeface="+mn-ea"/>
                          <a:cs typeface="+mn-cs"/>
                        </a:rPr>
                        <a:t> Icon</a:t>
                      </a:r>
                    </a:p>
                    <a:p>
                      <a:pPr marL="0" algn="l" defTabSz="914400" rtl="0" eaLnBrk="1" latinLnBrk="0" hangingPunct="1"/>
                      <a:endParaRPr lang="en-GB" sz="1100" b="0" kern="1200" dirty="0">
                        <a:solidFill>
                          <a:schemeClr val="dk1"/>
                        </a:solidFill>
                        <a:latin typeface="+mn-lt"/>
                        <a:ea typeface="+mn-ea"/>
                        <a:cs typeface="+mn-cs"/>
                      </a:endParaRPr>
                    </a:p>
                  </a:txBody>
                  <a:tcPr anchor="ctr"/>
                </a:tc>
                <a:tc>
                  <a:txBody>
                    <a:bodyPr/>
                    <a:lstStyle/>
                    <a:p>
                      <a:r>
                        <a:rPr lang="en-GB" sz="1100" dirty="0" smtClean="0"/>
                        <a:t>https://www.flaticon.com/free-icon/strength_4419256</a:t>
                      </a:r>
                      <a:endParaRPr lang="en-GB" sz="1100" dirty="0"/>
                    </a:p>
                  </a:txBody>
                  <a:tcPr/>
                </a:tc>
              </a:tr>
              <a:tr h="370840">
                <a:tc>
                  <a:txBody>
                    <a:bodyPr/>
                    <a:lstStyle/>
                    <a:p>
                      <a:pPr marL="0" algn="l" defTabSz="914400" rtl="0" eaLnBrk="1" latinLnBrk="0" hangingPunct="1"/>
                      <a:r>
                        <a:rPr lang="en-US" sz="1100" b="0" kern="1200" dirty="0" smtClean="0">
                          <a:solidFill>
                            <a:schemeClr val="dk1"/>
                          </a:solidFill>
                          <a:latin typeface="+mn-lt"/>
                          <a:ea typeface="+mn-ea"/>
                          <a:cs typeface="+mn-cs"/>
                        </a:rPr>
                        <a:t>A chic bathroom arrangement with bamboo toothbrushes in a wooden</a:t>
                      </a:r>
                      <a:endParaRPr lang="en-US" sz="1100" b="0" kern="1200" dirty="0">
                        <a:solidFill>
                          <a:schemeClr val="dk1"/>
                        </a:solidFill>
                        <a:latin typeface="+mn-lt"/>
                        <a:ea typeface="+mn-ea"/>
                        <a:cs typeface="+mn-cs"/>
                      </a:endParaRPr>
                    </a:p>
                  </a:txBody>
                  <a:tcPr/>
                </a:tc>
                <a:tc>
                  <a:txBody>
                    <a:bodyPr/>
                    <a:lstStyle/>
                    <a:p>
                      <a:r>
                        <a:rPr lang="en-GB" sz="1100" dirty="0" smtClean="0"/>
                        <a:t>https://www.freepik.com/premium-ai-image/chic-bathroom-arrangement-with-bamboo-toothbrushes-wooden-holder-soap-lotion-jar-white-towels-conveying-cleanliness-modern-aesthetics_330134828.htm</a:t>
                      </a:r>
                      <a:endParaRPr lang="en-GB" sz="1100" dirty="0"/>
                    </a:p>
                  </a:txBody>
                  <a:tcPr/>
                </a:tc>
              </a:tr>
              <a:tr h="370840">
                <a:tc>
                  <a:txBody>
                    <a:bodyPr/>
                    <a:lstStyle/>
                    <a:p>
                      <a:pPr marL="0" algn="l" defTabSz="914400" rtl="0" eaLnBrk="1" latinLnBrk="0" hangingPunct="1"/>
                      <a:r>
                        <a:rPr lang="en-US" sz="1100" b="0" kern="1200" dirty="0" smtClean="0">
                          <a:solidFill>
                            <a:schemeClr val="dk1"/>
                          </a:solidFill>
                          <a:latin typeface="+mn-lt"/>
                          <a:ea typeface="+mn-ea"/>
                          <a:cs typeface="+mn-cs"/>
                          <a:hlinkClick r:id="rId2"/>
                        </a:rPr>
                        <a:t>Minimalist Workspace with Laptop, Reusable Water Bottle</a:t>
                      </a:r>
                      <a:endParaRPr lang="en-US" sz="1100" b="0" kern="1200" dirty="0">
                        <a:solidFill>
                          <a:schemeClr val="dk1"/>
                        </a:solidFill>
                        <a:latin typeface="+mn-lt"/>
                        <a:ea typeface="+mn-ea"/>
                        <a:cs typeface="+mn-cs"/>
                        <a:hlinkClick r:id="rId2"/>
                      </a:endParaRPr>
                    </a:p>
                  </a:txBody>
                  <a:tcPr/>
                </a:tc>
                <a:tc>
                  <a:txBody>
                    <a:bodyPr/>
                    <a:lstStyle/>
                    <a:p>
                      <a:r>
                        <a:rPr lang="en-GB" sz="1100" dirty="0" smtClean="0"/>
                        <a:t>https://www.vecteezy.com/photo/57674037-minimalist-workspace-with-a-reusable-water-bottle-and-green-plants-eco-friendly-stainless-steel-bottle-wooden-desk-natural-light-sustainable-lifestyle</a:t>
                      </a:r>
                      <a:endParaRPr lang="en-GB" sz="1100" dirty="0"/>
                    </a:p>
                  </a:txBody>
                  <a:tcPr/>
                </a:tc>
              </a:tr>
              <a:tr h="370840">
                <a:tc>
                  <a:txBody>
                    <a:bodyPr/>
                    <a:lstStyle/>
                    <a:p>
                      <a:pPr marL="0" algn="l" defTabSz="914400" rtl="0" eaLnBrk="1" latinLnBrk="0" hangingPunct="1"/>
                      <a:r>
                        <a:rPr lang="en-GB" sz="1100" b="0" kern="1200" dirty="0" smtClean="0">
                          <a:solidFill>
                            <a:schemeClr val="dk1"/>
                          </a:solidFill>
                          <a:latin typeface="+mn-lt"/>
                          <a:ea typeface="+mn-ea"/>
                          <a:cs typeface="+mn-cs"/>
                        </a:rPr>
                        <a:t>eco-friendly-consumers-10-eye-opening-statistics-how-you-can-join-the-green-revolution</a:t>
                      </a:r>
                      <a:endParaRPr lang="en-GB" sz="1100" b="0" kern="1200" dirty="0">
                        <a:solidFill>
                          <a:schemeClr val="dk1"/>
                        </a:solidFill>
                        <a:latin typeface="+mn-lt"/>
                        <a:ea typeface="+mn-ea"/>
                        <a:cs typeface="+mn-cs"/>
                      </a:endParaRPr>
                    </a:p>
                  </a:txBody>
                  <a:tcPr/>
                </a:tc>
                <a:tc>
                  <a:txBody>
                    <a:bodyPr/>
                    <a:lstStyle/>
                    <a:p>
                      <a:r>
                        <a:rPr lang="en-GB" sz="1100" dirty="0" smtClean="0"/>
                        <a:t>https://www.marinebiodiversity.ca/eco-friendly-consumers-10-eye-opening-statistics-how-you-can-join-the-green-revolution/</a:t>
                      </a:r>
                      <a:endParaRPr lang="en-GB" sz="1100" dirty="0"/>
                    </a:p>
                  </a:txBody>
                  <a:tcPr/>
                </a:tc>
              </a:tr>
              <a:tr h="370840">
                <a:tc>
                  <a:txBody>
                    <a:bodyPr/>
                    <a:lstStyle/>
                    <a:p>
                      <a:pPr marL="0" algn="l" defTabSz="914400" rtl="0" eaLnBrk="1" latinLnBrk="0" hangingPunct="1"/>
                      <a:r>
                        <a:rPr lang="en-US" sz="1100" b="0" kern="1200" dirty="0" smtClean="0">
                          <a:solidFill>
                            <a:schemeClr val="dk1"/>
                          </a:solidFill>
                          <a:latin typeface="+mn-lt"/>
                          <a:ea typeface="+mn-ea"/>
                          <a:cs typeface="+mn-cs"/>
                        </a:rPr>
                        <a:t>B2C Icon</a:t>
                      </a:r>
                      <a:endParaRPr lang="en-GB" sz="1100" b="0" kern="1200" dirty="0">
                        <a:solidFill>
                          <a:schemeClr val="dk1"/>
                        </a:solidFill>
                        <a:latin typeface="+mn-lt"/>
                        <a:ea typeface="+mn-ea"/>
                        <a:cs typeface="+mn-cs"/>
                      </a:endParaRPr>
                    </a:p>
                  </a:txBody>
                  <a:tcPr/>
                </a:tc>
                <a:tc>
                  <a:txBody>
                    <a:bodyPr/>
                    <a:lstStyle/>
                    <a:p>
                      <a:r>
                        <a:rPr lang="en-GB" sz="1100" dirty="0" smtClean="0"/>
                        <a:t>https://www.flaticon.com/de/kostenloses-icon/b2c_6405172</a:t>
                      </a:r>
                      <a:endParaRPr lang="en-GB" sz="1100" dirty="0"/>
                    </a:p>
                  </a:txBody>
                  <a:tcPr/>
                </a:tc>
              </a:tr>
            </a:tbl>
          </a:graphicData>
        </a:graphic>
      </p:graphicFrame>
    </p:spTree>
    <p:extLst>
      <p:ext uri="{BB962C8B-B14F-4D97-AF65-F5344CB8AC3E}">
        <p14:creationId xmlns:p14="http://schemas.microsoft.com/office/powerpoint/2010/main" val="295614343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docProps/app.xml><?xml version="1.0" encoding="utf-8"?>
<Properties xmlns="http://schemas.openxmlformats.org/officeDocument/2006/extended-properties" xmlns:vt="http://schemas.openxmlformats.org/officeDocument/2006/docPropsVTypes">
  <Template/>
  <TotalTime>657</TotalTime>
  <Words>1085</Words>
  <Application>Microsoft Office PowerPoint</Application>
  <PresentationFormat>Widescreen</PresentationFormat>
  <Paragraphs>216</Paragraphs>
  <Slides>15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Arial</vt:lpstr>
      <vt:lpstr>Calibri Light</vt:lpstr>
      <vt:lpstr>Wingdings</vt:lpstr>
      <vt:lpstr>Retrospect</vt:lpstr>
      <vt:lpstr>PowerPoint Presentation</vt:lpstr>
      <vt:lpstr>Unternehmensvorstellung &amp; Geschäftsmodell</vt:lpstr>
      <vt:lpstr>Aufgabe 1_Warum B2C?</vt:lpstr>
      <vt:lpstr>Aufgabe 2_Zielgruppe &amp; Auswahlmerkmale</vt:lpstr>
      <vt:lpstr>Aufgabe 3_SWOT-Analyse &amp; Strategien</vt:lpstr>
      <vt:lpstr>SWOT-Analyse &amp; Strategien</vt:lpstr>
      <vt:lpstr>Aufgabe 4_Kundenbedürfnis 1 – Nachhaltigkeit</vt:lpstr>
      <vt:lpstr>Kundenbedürfnis 2 – Gesundheit</vt:lpstr>
      <vt:lpstr>Aufgabe 5_Kano-Modell </vt:lpstr>
      <vt:lpstr>KANO-Analyse – Basismerkmale </vt:lpstr>
      <vt:lpstr>KANO-Analyse – Leistungsmerkmale </vt:lpstr>
      <vt:lpstr>KANO-Analyse – Begeisterungsmerkmale </vt:lpstr>
      <vt:lpstr>Rückweisungsmerkmale </vt:lpstr>
      <vt:lpstr>Greenory – Kleine Produkte, großer Impact</vt:lpstr>
      <vt:lpstr>Referenzfotos und Symbole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Projektarbeit: Kundenservice mit CRM</dc:title>
  <dc:creator>Microsoft account</dc:creator>
  <cp:lastModifiedBy>Microsoft account</cp:lastModifiedBy>
  <cp:revision>348</cp:revision>
  <dcterms:created xsi:type="dcterms:W3CDTF">2026-02-10T15:47:23Z</dcterms:created>
  <dcterms:modified xsi:type="dcterms:W3CDTF">2026-02-16T17:34:08Z</dcterms:modified>
</cp:coreProperties>
</file>